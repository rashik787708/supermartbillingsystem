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Source Serif Pro" charset="1" panose="02040603050405020204"/>
      <p:regular r:id="rId20"/>
    </p:embeddedFont>
    <p:embeddedFont>
      <p:font typeface="Source Serif Pro Bold" charset="1" panose="02040803050405020204"/>
      <p:regular r:id="rId24"/>
    </p:embeddedFont>
    <p:embeddedFont>
      <p:font typeface="Consolas" charset="1" panose="020B0609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6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2.png" Type="http://schemas.openxmlformats.org/officeDocument/2006/relationships/image"/><Relationship Id="rId4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541859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POS Billing System using C Programming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881497"/>
            <a:ext cx="9445523" cy="391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college mini-project demonstrating real-world application of C programming for retail billing and inventory management.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Department of Computer Science And Engineering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JJ College Of Engineering &amp; Technology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Prakash N -811325104154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Mohamed Sameer M-811325104127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Mohamed Rashik Jabar Sheik-81132510126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30916"/>
            <a:ext cx="16303523" cy="76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189559"/>
            <a:ext cx="10400557" cy="5893594"/>
            <a:chOff x="0" y="0"/>
            <a:chExt cx="13867409" cy="785812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67385" cy="7858125"/>
            </a:xfrm>
            <a:custGeom>
              <a:avLst/>
              <a:gdLst/>
              <a:ahLst/>
              <a:cxnLst/>
              <a:rect r="r" b="b" t="t" l="l"/>
              <a:pathLst>
                <a:path h="7858125" w="13867385">
                  <a:moveTo>
                    <a:pt x="0" y="0"/>
                  </a:moveTo>
                  <a:lnTo>
                    <a:pt x="13867385" y="0"/>
                  </a:lnTo>
                  <a:lnTo>
                    <a:pt x="13867385" y="7858125"/>
                  </a:lnTo>
                  <a:lnTo>
                    <a:pt x="0" y="7858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64295" y="2374259"/>
            <a:ext cx="5340848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What is a POS Billing System?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4295" y="2902153"/>
            <a:ext cx="5340848" cy="13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Point of Sale (POS) system is the hub of retail operations — managing product catalogs, processing transactions, and generating customer receipts in real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4295" y="4444155"/>
            <a:ext cx="5340848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Why It Matters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64295" y="4972050"/>
            <a:ext cx="5340848" cy="118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613"/>
              </a:lnSpc>
              <a:buFont typeface="Arial"/>
              <a:buChar char="•"/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Reduces manual billing errors significantly</a:t>
            </a:r>
          </a:p>
          <a:p>
            <a:pPr algn="l" marL="434340" indent="-217170" lvl="1">
              <a:lnSpc>
                <a:spcPts val="2613"/>
              </a:lnSpc>
              <a:buFont typeface="Arial"/>
              <a:buChar char="•"/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Speeds up the checkout process</a:t>
            </a:r>
          </a:p>
          <a:p>
            <a:pPr algn="l" marL="434340" indent="-217170" lvl="1">
              <a:lnSpc>
                <a:spcPts val="2613"/>
              </a:lnSpc>
              <a:buFont typeface="Arial"/>
              <a:buChar char="•"/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Keeps inventory synchronized automatically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64295" y="6311055"/>
            <a:ext cx="5340848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Project Purpose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4295" y="6838950"/>
            <a:ext cx="5340848" cy="10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project applies core C programming concepts to build a functional, menu-driven billing application for small retail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3224"/>
            <a:ext cx="16303523" cy="80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73761"/>
            <a:ext cx="1721792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Six clear goals guided the development of this system.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2628748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0"/>
                </a:lnTo>
                <a:lnTo>
                  <a:pt x="0" y="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349076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 Application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26821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Build a billing app using C.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274816" y="2628748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0"/>
                </a:lnTo>
                <a:lnTo>
                  <a:pt x="0" y="487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2" t="0" r="-769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74816" y="3349076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Inventory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4816" y="3826821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Track product stock levels.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4665021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1"/>
                </a:lnTo>
                <a:lnTo>
                  <a:pt x="0" y="487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500" r="0" b="-1249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2238" y="5385349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Bill Generation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863085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Generate itemized customer bills.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74816" y="4665021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1"/>
                </a:lnTo>
                <a:lnTo>
                  <a:pt x="0" y="487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06" t="0" r="-480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274816" y="5385349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Auto Stock Update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4816" y="5863085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Reduce quantities after each sale.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92238" y="6701285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1"/>
                </a:lnTo>
                <a:lnTo>
                  <a:pt x="0" y="4872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847" r="0" b="-384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92238" y="7421613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Error Reduction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899349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Minimize manual billing mistakes.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74816" y="6701285"/>
            <a:ext cx="487261" cy="487261"/>
          </a:xfrm>
          <a:custGeom>
            <a:avLst/>
            <a:gdLst/>
            <a:ahLst/>
            <a:cxnLst/>
            <a:rect r="r" b="b" t="t" l="l"/>
            <a:pathLst>
              <a:path h="487261" w="487261">
                <a:moveTo>
                  <a:pt x="0" y="0"/>
                </a:moveTo>
                <a:lnTo>
                  <a:pt x="487261" y="0"/>
                </a:lnTo>
                <a:lnTo>
                  <a:pt x="487261" y="487261"/>
                </a:lnTo>
                <a:lnTo>
                  <a:pt x="0" y="4872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31730" r="0" b="-3173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74816" y="7421613"/>
            <a:ext cx="8020945" cy="4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Billing Efficiency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74816" y="7899349"/>
            <a:ext cx="8020945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Faster checkout experience.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53078"/>
            <a:ext cx="16303523" cy="86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53393"/>
            <a:ext cx="17217923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Each C language feature serves a specific role in the system.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907506"/>
            <a:ext cx="16313048" cy="5194697"/>
            <a:chOff x="0" y="0"/>
            <a:chExt cx="21750731" cy="69262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655" cy="6926199"/>
            </a:xfrm>
            <a:custGeom>
              <a:avLst/>
              <a:gdLst/>
              <a:ahLst/>
              <a:cxnLst/>
              <a:rect r="r" b="b" t="t" l="l"/>
              <a:pathLst>
                <a:path h="6926199" w="21750655">
                  <a:moveTo>
                    <a:pt x="0" y="53213"/>
                  </a:moveTo>
                  <a:cubicBezTo>
                    <a:pt x="0" y="23876"/>
                    <a:pt x="23876" y="0"/>
                    <a:pt x="53213" y="0"/>
                  </a:cubicBezTo>
                  <a:lnTo>
                    <a:pt x="21697442" y="0"/>
                  </a:lnTo>
                  <a:cubicBezTo>
                    <a:pt x="21726906" y="0"/>
                    <a:pt x="21750655" y="23876"/>
                    <a:pt x="21750655" y="53213"/>
                  </a:cubicBezTo>
                  <a:lnTo>
                    <a:pt x="21750655" y="6872986"/>
                  </a:lnTo>
                  <a:cubicBezTo>
                    <a:pt x="21750655" y="6902450"/>
                    <a:pt x="21726779" y="6926199"/>
                    <a:pt x="21697442" y="6926199"/>
                  </a:cubicBezTo>
                  <a:lnTo>
                    <a:pt x="53213" y="6926199"/>
                  </a:lnTo>
                  <a:cubicBezTo>
                    <a:pt x="23749" y="6926199"/>
                    <a:pt x="0" y="6902323"/>
                    <a:pt x="0" y="687298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9" r="0" b="-1119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67720" y="3014062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Technology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2005" y="3014062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Purpose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720" y="3753441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 Programming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72005" y="3753441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Core application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720" y="4492819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Structures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72005" y="4492819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Store product info (ID, name, price, quantity)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7720" y="5232197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Arrays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72005" y="5232197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Maintain the product list in memory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720" y="5971575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Functions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2005" y="5971575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Modular, reusable code blocks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7720" y="6710953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String Library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2005" y="6710953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Username and password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7720" y="7450331"/>
            <a:ext cx="6077550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Boolean Library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2005" y="7450331"/>
            <a:ext cx="10962827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Logical flags and state control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1132"/>
            <a:ext cx="1630352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System Architecture &amp;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1614040"/>
            <a:ext cx="14630400" cy="8229600"/>
            <a:chOff x="0" y="0"/>
            <a:chExt cx="19507200" cy="10972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072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33923" y="10350103"/>
            <a:ext cx="177108" cy="141684"/>
            <a:chOff x="0" y="0"/>
            <a:chExt cx="236144" cy="18891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36093" cy="188849"/>
            </a:xfrm>
            <a:custGeom>
              <a:avLst/>
              <a:gdLst/>
              <a:ahLst/>
              <a:cxnLst/>
              <a:rect r="r" b="b" t="t" l="l"/>
              <a:pathLst>
                <a:path h="188849" w="236093">
                  <a:moveTo>
                    <a:pt x="0" y="0"/>
                  </a:moveTo>
                  <a:lnTo>
                    <a:pt x="236093" y="0"/>
                  </a:lnTo>
                  <a:lnTo>
                    <a:pt x="236093" y="188849"/>
                  </a:lnTo>
                  <a:lnTo>
                    <a:pt x="0" y="188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7" t="0" r="-688" b="-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52715" y="10279256"/>
            <a:ext cx="16615772" cy="17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Use this slide to explain the overall program flow. Mention that the admin login is the entry gate for all operations.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51144"/>
            <a:ext cx="16303523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Key Modules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44126"/>
            <a:ext cx="17217923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Seven modules form the complete system.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349694"/>
            <a:ext cx="5328199" cy="1947710"/>
            <a:chOff x="0" y="0"/>
            <a:chExt cx="7104266" cy="25969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4760" y="2562225"/>
            <a:ext cx="637880" cy="637880"/>
            <a:chOff x="0" y="0"/>
            <a:chExt cx="850506" cy="850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80230" y="2737542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0" y="0"/>
                </a:lnTo>
                <a:lnTo>
                  <a:pt x="286940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4760" y="3349971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Admin Login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4760" y="3758651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Secure auth with 3 attempts.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79829" y="2349694"/>
            <a:ext cx="5328199" cy="1947710"/>
            <a:chOff x="0" y="0"/>
            <a:chExt cx="7104266" cy="25969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692351" y="2562225"/>
            <a:ext cx="637880" cy="637880"/>
            <a:chOff x="0" y="0"/>
            <a:chExt cx="850506" cy="8505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867820" y="2737542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1" y="0"/>
                </a:lnTo>
                <a:lnTo>
                  <a:pt x="286941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692351" y="3349971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Add Product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92351" y="3758651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Add new product details.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67420" y="2349694"/>
            <a:ext cx="5328199" cy="1947710"/>
            <a:chOff x="0" y="0"/>
            <a:chExt cx="7104266" cy="25969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179941" y="2562225"/>
            <a:ext cx="637880" cy="637880"/>
            <a:chOff x="0" y="0"/>
            <a:chExt cx="850506" cy="8505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355411" y="2737542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1" y="0"/>
                </a:lnTo>
                <a:lnTo>
                  <a:pt x="286941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579" t="0" r="-22582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179941" y="3349971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View Products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79941" y="3758651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Display all products.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4456805"/>
            <a:ext cx="5328199" cy="1947710"/>
            <a:chOff x="0" y="0"/>
            <a:chExt cx="7104266" cy="25969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4760" y="4669336"/>
            <a:ext cx="637880" cy="637880"/>
            <a:chOff x="0" y="0"/>
            <a:chExt cx="850506" cy="8505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380230" y="4844653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0" y="0"/>
                </a:lnTo>
                <a:lnTo>
                  <a:pt x="286940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04760" y="5457082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Search Product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4760" y="5865762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Find by Product ID.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79829" y="4456805"/>
            <a:ext cx="5328199" cy="1947710"/>
            <a:chOff x="0" y="0"/>
            <a:chExt cx="7104266" cy="259694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92351" y="4669336"/>
            <a:ext cx="637880" cy="637880"/>
            <a:chOff x="0" y="0"/>
            <a:chExt cx="850506" cy="8505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6867820" y="4844653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1" y="0"/>
                </a:lnTo>
                <a:lnTo>
                  <a:pt x="286941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839" t="0" r="-4836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692351" y="5457082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Update Product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92351" y="5865762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Modify details.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967420" y="4456805"/>
            <a:ext cx="5328199" cy="1947710"/>
            <a:chOff x="0" y="0"/>
            <a:chExt cx="7104266" cy="25969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4252" cy="2596896"/>
            </a:xfrm>
            <a:custGeom>
              <a:avLst/>
              <a:gdLst/>
              <a:ahLst/>
              <a:cxnLst/>
              <a:rect r="r" b="b" t="t" l="l"/>
              <a:pathLst>
                <a:path h="2596896" w="7104252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7061708" y="0"/>
                  </a:lnTo>
                  <a:cubicBezTo>
                    <a:pt x="7085202" y="0"/>
                    <a:pt x="7104252" y="19050"/>
                    <a:pt x="7104252" y="42545"/>
                  </a:cubicBezTo>
                  <a:lnTo>
                    <a:pt x="7104252" y="2554351"/>
                  </a:lnTo>
                  <a:cubicBezTo>
                    <a:pt x="7104252" y="2577846"/>
                    <a:pt x="7085202" y="2596896"/>
                    <a:pt x="7061708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79941" y="4669336"/>
            <a:ext cx="637880" cy="637880"/>
            <a:chOff x="0" y="0"/>
            <a:chExt cx="850506" cy="85050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47" id="47" descr="preencoded.png"/>
          <p:cNvSpPr/>
          <p:nvPr/>
        </p:nvSpPr>
        <p:spPr>
          <a:xfrm flipH="false" flipV="false" rot="0">
            <a:off x="12355411" y="4844653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1" y="0"/>
                </a:lnTo>
                <a:lnTo>
                  <a:pt x="286941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179941" y="5457082"/>
            <a:ext cx="4903146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Delete Product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79941" y="5865762"/>
            <a:ext cx="4903146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Remove a product.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92238" y="6563916"/>
            <a:ext cx="16303381" cy="1947710"/>
            <a:chOff x="0" y="0"/>
            <a:chExt cx="21737841" cy="25969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737828" cy="2596896"/>
            </a:xfrm>
            <a:custGeom>
              <a:avLst/>
              <a:gdLst/>
              <a:ahLst/>
              <a:cxnLst/>
              <a:rect r="r" b="b" t="t" l="l"/>
              <a:pathLst>
                <a:path h="2596896" w="21737828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21695283" y="0"/>
                  </a:lnTo>
                  <a:cubicBezTo>
                    <a:pt x="21718778" y="0"/>
                    <a:pt x="21737828" y="19050"/>
                    <a:pt x="21737828" y="42545"/>
                  </a:cubicBezTo>
                  <a:lnTo>
                    <a:pt x="21737828" y="2554351"/>
                  </a:lnTo>
                  <a:cubicBezTo>
                    <a:pt x="21737828" y="2577846"/>
                    <a:pt x="21718778" y="2596896"/>
                    <a:pt x="21695283" y="2596896"/>
                  </a:cubicBezTo>
                  <a:lnTo>
                    <a:pt x="42545" y="2596896"/>
                  </a:lnTo>
                  <a:cubicBezTo>
                    <a:pt x="19050" y="2596896"/>
                    <a:pt x="0" y="2577846"/>
                    <a:pt x="0" y="255435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04760" y="6776437"/>
            <a:ext cx="637880" cy="637880"/>
            <a:chOff x="0" y="0"/>
            <a:chExt cx="850506" cy="85050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425196"/>
                  </a:moveTo>
                  <a:cubicBezTo>
                    <a:pt x="0" y="190373"/>
                    <a:pt x="190373" y="0"/>
                    <a:pt x="425196" y="0"/>
                  </a:cubicBezTo>
                  <a:cubicBezTo>
                    <a:pt x="660019" y="0"/>
                    <a:pt x="850519" y="190373"/>
                    <a:pt x="850519" y="425196"/>
                  </a:cubicBezTo>
                  <a:cubicBezTo>
                    <a:pt x="850519" y="660019"/>
                    <a:pt x="660146" y="850519"/>
                    <a:pt x="425196" y="850519"/>
                  </a:cubicBezTo>
                  <a:cubicBezTo>
                    <a:pt x="190246" y="850519"/>
                    <a:pt x="0" y="660146"/>
                    <a:pt x="0" y="425196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54" id="54" descr="preencoded.png"/>
          <p:cNvSpPr/>
          <p:nvPr/>
        </p:nvSpPr>
        <p:spPr>
          <a:xfrm flipH="false" flipV="false" rot="0">
            <a:off x="1380230" y="6951764"/>
            <a:ext cx="286941" cy="286941"/>
          </a:xfrm>
          <a:custGeom>
            <a:avLst/>
            <a:gdLst/>
            <a:ahLst/>
            <a:cxnLst/>
            <a:rect r="r" b="b" t="t" l="l"/>
            <a:pathLst>
              <a:path h="286941" w="286941">
                <a:moveTo>
                  <a:pt x="0" y="0"/>
                </a:moveTo>
                <a:lnTo>
                  <a:pt x="286940" y="0"/>
                </a:lnTo>
                <a:lnTo>
                  <a:pt x="286940" y="286941"/>
                </a:lnTo>
                <a:lnTo>
                  <a:pt x="0" y="2869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839" r="0" b="-4836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204760" y="7564193"/>
            <a:ext cx="15878327" cy="34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20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Print Bill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04760" y="7972873"/>
            <a:ext cx="15878327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6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Generate bill, reduce stock.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1979"/>
            <a:ext cx="16303523" cy="8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Code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25869"/>
            <a:ext cx="7838332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Product Structure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917774"/>
            <a:ext cx="7838332" cy="2864939"/>
            <a:chOff x="0" y="0"/>
            <a:chExt cx="10451109" cy="38199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51211" cy="3820033"/>
            </a:xfrm>
            <a:custGeom>
              <a:avLst/>
              <a:gdLst/>
              <a:ahLst/>
              <a:cxnLst/>
              <a:rect r="r" b="b" t="t" l="l"/>
              <a:pathLst>
                <a:path h="3820033" w="10451211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0399776" y="0"/>
                  </a:lnTo>
                  <a:cubicBezTo>
                    <a:pt x="10428097" y="0"/>
                    <a:pt x="10451211" y="22987"/>
                    <a:pt x="10451211" y="51435"/>
                  </a:cubicBezTo>
                  <a:lnTo>
                    <a:pt x="10451211" y="3768598"/>
                  </a:lnTo>
                  <a:cubicBezTo>
                    <a:pt x="10451211" y="3796919"/>
                    <a:pt x="10428224" y="3820033"/>
                    <a:pt x="10399776" y="3820033"/>
                  </a:cubicBezTo>
                  <a:lnTo>
                    <a:pt x="51435" y="3820033"/>
                  </a:lnTo>
                  <a:cubicBezTo>
                    <a:pt x="23114" y="3820033"/>
                    <a:pt x="0" y="3797046"/>
                    <a:pt x="0" y="376859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9437" y="2917774"/>
            <a:ext cx="7863926" cy="2864939"/>
            <a:chOff x="0" y="0"/>
            <a:chExt cx="10485234" cy="38199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247" cy="3820033"/>
            </a:xfrm>
            <a:custGeom>
              <a:avLst/>
              <a:gdLst/>
              <a:ahLst/>
              <a:cxnLst/>
              <a:rect r="r" b="b" t="t" l="l"/>
              <a:pathLst>
                <a:path h="3820033" w="10485247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10433812" y="0"/>
                  </a:lnTo>
                  <a:cubicBezTo>
                    <a:pt x="10462133" y="0"/>
                    <a:pt x="10485247" y="22987"/>
                    <a:pt x="10485247" y="51435"/>
                  </a:cubicBezTo>
                  <a:lnTo>
                    <a:pt x="10485247" y="3768598"/>
                  </a:lnTo>
                  <a:cubicBezTo>
                    <a:pt x="10485247" y="3796919"/>
                    <a:pt x="10462260" y="3820033"/>
                    <a:pt x="10433812" y="3820033"/>
                  </a:cubicBezTo>
                  <a:lnTo>
                    <a:pt x="51435" y="3820033"/>
                  </a:lnTo>
                  <a:cubicBezTo>
                    <a:pt x="23114" y="3820033"/>
                    <a:pt x="0" y="3797046"/>
                    <a:pt x="0" y="376859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00610" y="3069879"/>
            <a:ext cx="7221588" cy="245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 Product {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int   id;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char  name[100];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float price;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int   quantity;</a:t>
            </a:r>
          </a:p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977976"/>
            <a:ext cx="7838332" cy="85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struct groups all product attributes into a single record, stored in an array for the full catalog.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6955" y="2225869"/>
            <a:ext cx="7838332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Core Concepts Applied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466955" y="2917774"/>
            <a:ext cx="3802704" cy="2390184"/>
          </a:xfrm>
          <a:custGeom>
            <a:avLst/>
            <a:gdLst/>
            <a:ahLst/>
            <a:cxnLst/>
            <a:rect r="r" b="b" t="t" l="l"/>
            <a:pathLst>
              <a:path h="2390184" w="3802704">
                <a:moveTo>
                  <a:pt x="0" y="0"/>
                </a:moveTo>
                <a:lnTo>
                  <a:pt x="3802703" y="0"/>
                </a:lnTo>
                <a:lnTo>
                  <a:pt x="3802703" y="2390185"/>
                </a:lnTo>
                <a:lnTo>
                  <a:pt x="0" y="2390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66709" y="3174654"/>
            <a:ext cx="3117504" cy="8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Structures &amp; Arrays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66709" y="4172102"/>
            <a:ext cx="3117504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Store and manage product records.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3502430" y="2917774"/>
            <a:ext cx="3802856" cy="2390184"/>
          </a:xfrm>
          <a:custGeom>
            <a:avLst/>
            <a:gdLst/>
            <a:ahLst/>
            <a:cxnLst/>
            <a:rect r="r" b="b" t="t" l="l"/>
            <a:pathLst>
              <a:path h="2390184" w="3802856">
                <a:moveTo>
                  <a:pt x="0" y="0"/>
                </a:moveTo>
                <a:lnTo>
                  <a:pt x="3802857" y="0"/>
                </a:lnTo>
                <a:lnTo>
                  <a:pt x="3802857" y="2390185"/>
                </a:lnTo>
                <a:lnTo>
                  <a:pt x="0" y="2390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" t="0" r="-81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902185" y="3174654"/>
            <a:ext cx="3117656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Functions &amp; Loops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02185" y="3770709"/>
            <a:ext cx="3117656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Modular design with iterative menus.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466955" y="5540721"/>
            <a:ext cx="3802704" cy="2390184"/>
          </a:xfrm>
          <a:custGeom>
            <a:avLst/>
            <a:gdLst/>
            <a:ahLst/>
            <a:cxnLst/>
            <a:rect r="r" b="b" t="t" l="l"/>
            <a:pathLst>
              <a:path h="2390184" w="3802704">
                <a:moveTo>
                  <a:pt x="0" y="0"/>
                </a:moveTo>
                <a:lnTo>
                  <a:pt x="3802703" y="0"/>
                </a:lnTo>
                <a:lnTo>
                  <a:pt x="3802703" y="2390185"/>
                </a:lnTo>
                <a:lnTo>
                  <a:pt x="0" y="2390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866709" y="5797601"/>
            <a:ext cx="3117504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String Handling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6709" y="6393656"/>
            <a:ext cx="3117504" cy="85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strcmp() for login validation.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13502430" y="5540721"/>
            <a:ext cx="3802856" cy="2390184"/>
          </a:xfrm>
          <a:custGeom>
            <a:avLst/>
            <a:gdLst/>
            <a:ahLst/>
            <a:cxnLst/>
            <a:rect r="r" b="b" t="t" l="l"/>
            <a:pathLst>
              <a:path h="2390184" w="3802856">
                <a:moveTo>
                  <a:pt x="0" y="0"/>
                </a:moveTo>
                <a:lnTo>
                  <a:pt x="3802857" y="0"/>
                </a:lnTo>
                <a:lnTo>
                  <a:pt x="3802857" y="2390185"/>
                </a:lnTo>
                <a:lnTo>
                  <a:pt x="0" y="2390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" t="0" r="-81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902185" y="5797601"/>
            <a:ext cx="3117656" cy="8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Conditionals &amp; Boolean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02185" y="6795049"/>
            <a:ext cx="3117656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Control flow and state flags.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5840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Sample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66017"/>
            <a:ext cx="17217923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The console interface is clean and menu-driven, with a formatted bill generated at checkout.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837259"/>
            <a:ext cx="784920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Main Menu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488084"/>
            <a:ext cx="7849200" cy="4588669"/>
            <a:chOff x="0" y="0"/>
            <a:chExt cx="10465600" cy="61182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65688" cy="6118225"/>
            </a:xfrm>
            <a:custGeom>
              <a:avLst/>
              <a:gdLst/>
              <a:ahLst/>
              <a:cxnLst/>
              <a:rect r="r" b="b" t="t" l="l"/>
              <a:pathLst>
                <a:path h="6118225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6068568"/>
                  </a:lnTo>
                  <a:cubicBezTo>
                    <a:pt x="10465688" y="6096000"/>
                    <a:pt x="10443463" y="6118225"/>
                    <a:pt x="10416032" y="6118225"/>
                  </a:cubicBezTo>
                  <a:lnTo>
                    <a:pt x="49657" y="6118225"/>
                  </a:lnTo>
                  <a:cubicBezTo>
                    <a:pt x="22225" y="6118225"/>
                    <a:pt x="0" y="6096000"/>
                    <a:pt x="0" y="606856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9884" y="3488084"/>
            <a:ext cx="7873898" cy="4588669"/>
            <a:chOff x="0" y="0"/>
            <a:chExt cx="10498531" cy="6118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98582" cy="6118225"/>
            </a:xfrm>
            <a:custGeom>
              <a:avLst/>
              <a:gdLst/>
              <a:ahLst/>
              <a:cxnLst/>
              <a:rect r="r" b="b" t="t" l="l"/>
              <a:pathLst>
                <a:path h="6118225" w="1049858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48925" y="0"/>
                  </a:lnTo>
                  <a:cubicBezTo>
                    <a:pt x="10476357" y="0"/>
                    <a:pt x="10498582" y="22225"/>
                    <a:pt x="10498582" y="49657"/>
                  </a:cubicBezTo>
                  <a:lnTo>
                    <a:pt x="10498582" y="6068568"/>
                  </a:lnTo>
                  <a:cubicBezTo>
                    <a:pt x="10498582" y="6096000"/>
                    <a:pt x="10476357" y="6118225"/>
                    <a:pt x="10448925" y="6118225"/>
                  </a:cubicBezTo>
                  <a:lnTo>
                    <a:pt x="49657" y="6118225"/>
                  </a:lnTo>
                  <a:cubicBezTo>
                    <a:pt x="22225" y="6118225"/>
                    <a:pt x="0" y="6096000"/>
                    <a:pt x="0" y="606856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9895" y="3640779"/>
            <a:ext cx="7253878" cy="418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   POS BILLING SYSTEM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1. Add Product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2. View Products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3. Search Product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4. Update Product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5. Delete Product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6. Print Bill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7. Exit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6096" y="2837259"/>
            <a:ext cx="784920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Generated Bill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56096" y="3488084"/>
            <a:ext cx="7849200" cy="2728322"/>
            <a:chOff x="0" y="0"/>
            <a:chExt cx="10465600" cy="3637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65688" cy="3637788"/>
            </a:xfrm>
            <a:custGeom>
              <a:avLst/>
              <a:gdLst/>
              <a:ahLst/>
              <a:cxnLst/>
              <a:rect r="r" b="b" t="t" l="l"/>
              <a:pathLst>
                <a:path h="3637788" w="10465688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16032" y="0"/>
                  </a:lnTo>
                  <a:cubicBezTo>
                    <a:pt x="10443463" y="0"/>
                    <a:pt x="10465688" y="22225"/>
                    <a:pt x="10465688" y="49657"/>
                  </a:cubicBezTo>
                  <a:lnTo>
                    <a:pt x="10465688" y="3588131"/>
                  </a:lnTo>
                  <a:cubicBezTo>
                    <a:pt x="10465688" y="3615563"/>
                    <a:pt x="10443463" y="3637788"/>
                    <a:pt x="10416032" y="3637788"/>
                  </a:cubicBezTo>
                  <a:lnTo>
                    <a:pt x="49657" y="3637788"/>
                  </a:lnTo>
                  <a:cubicBezTo>
                    <a:pt x="22225" y="3637788"/>
                    <a:pt x="0" y="3615563"/>
                    <a:pt x="0" y="358813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43742" y="3488084"/>
            <a:ext cx="7873898" cy="2728322"/>
            <a:chOff x="0" y="0"/>
            <a:chExt cx="10498531" cy="36377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98582" cy="3637788"/>
            </a:xfrm>
            <a:custGeom>
              <a:avLst/>
              <a:gdLst/>
              <a:ahLst/>
              <a:cxnLst/>
              <a:rect r="r" b="b" t="t" l="l"/>
              <a:pathLst>
                <a:path h="3637788" w="10498582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0448925" y="0"/>
                  </a:lnTo>
                  <a:cubicBezTo>
                    <a:pt x="10476357" y="0"/>
                    <a:pt x="10498582" y="22225"/>
                    <a:pt x="10498582" y="49657"/>
                  </a:cubicBezTo>
                  <a:lnTo>
                    <a:pt x="10498582" y="3588131"/>
                  </a:lnTo>
                  <a:cubicBezTo>
                    <a:pt x="10498582" y="3615563"/>
                    <a:pt x="10476357" y="3637788"/>
                    <a:pt x="10448925" y="3637788"/>
                  </a:cubicBezTo>
                  <a:lnTo>
                    <a:pt x="49657" y="3637788"/>
                  </a:lnTo>
                  <a:cubicBezTo>
                    <a:pt x="22225" y="3637788"/>
                    <a:pt x="0" y="3615563"/>
                    <a:pt x="0" y="3588131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53752" y="3640779"/>
            <a:ext cx="7253878" cy="232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========== BILL ==========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Rice       x2    = 120.00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Sugar      x1    =  55.00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Total Amount     = 175.00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03206"/>
            <a:ext cx="1630352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Advantages &amp; Limitations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3171530"/>
            <a:ext cx="8214274" cy="3802256"/>
            <a:chOff x="0" y="0"/>
            <a:chExt cx="10952366" cy="5069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2" cy="5069713"/>
            </a:xfrm>
            <a:custGeom>
              <a:avLst/>
              <a:gdLst/>
              <a:ahLst/>
              <a:cxnLst/>
              <a:rect r="r" b="b" t="t" l="l"/>
              <a:pathLst>
                <a:path h="5069713" w="1095235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5012944"/>
                  </a:lnTo>
                  <a:cubicBezTo>
                    <a:pt x="10952352" y="5044313"/>
                    <a:pt x="10926952" y="5069713"/>
                    <a:pt x="10895584" y="5069713"/>
                  </a:cubicBezTo>
                  <a:lnTo>
                    <a:pt x="56769" y="5069713"/>
                  </a:lnTo>
                  <a:cubicBezTo>
                    <a:pt x="25400" y="5069713"/>
                    <a:pt x="0" y="5044313"/>
                    <a:pt x="0" y="5012944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3426466"/>
            <a:ext cx="7647232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Advantages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4124325"/>
            <a:ext cx="7647232" cy="27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Simple, user-friendly interface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Faster billing process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Automatic inventory update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Easy product management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Modular and maintainable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406" y="3426466"/>
            <a:ext cx="7805890" cy="50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⚠️</a:t>
            </a:r>
            <a:r>
              <a:rPr lang="en-US" sz="2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406" y="4124325"/>
            <a:ext cx="7805890" cy="27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Console-based — no GUI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 database connectivity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Data not stored permanently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Single-user application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No barcode or GST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27780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Future Scope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64404"/>
            <a:ext cx="784920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85250" y="2822819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8291" y="2796178"/>
            <a:ext cx="7043137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Database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8291" y="3362773"/>
            <a:ext cx="7043137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MySQL/SQLite for persistent storage.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085250" y="4233710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98291" y="4207078"/>
            <a:ext cx="7043137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File Handling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8291" y="4773663"/>
            <a:ext cx="7043137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Save data across sessions.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85250" y="5644601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5"/>
                </a:lnTo>
                <a:lnTo>
                  <a:pt x="0" y="372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98291" y="5617959"/>
            <a:ext cx="7043137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GST &amp; Barcode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8291" y="6184554"/>
            <a:ext cx="7043137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Tax calculation and scanner support.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85250" y="7055491"/>
            <a:ext cx="372066" cy="372066"/>
          </a:xfrm>
          <a:custGeom>
            <a:avLst/>
            <a:gdLst/>
            <a:ahLst/>
            <a:cxnLst/>
            <a:rect r="r" b="b" t="t" l="l"/>
            <a:pathLst>
              <a:path h="372066" w="372066">
                <a:moveTo>
                  <a:pt x="0" y="0"/>
                </a:moveTo>
                <a:lnTo>
                  <a:pt x="372065" y="0"/>
                </a:lnTo>
                <a:lnTo>
                  <a:pt x="372065" y="372066"/>
                </a:lnTo>
                <a:lnTo>
                  <a:pt x="0" y="37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t="0" r="-750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98291" y="7028850"/>
            <a:ext cx="7043137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GUI &amp; Reports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8291" y="7595445"/>
            <a:ext cx="7043137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Graphical interface and sales reports.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6096" y="2164404"/>
            <a:ext cx="7849200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56096" y="2730998"/>
            <a:ext cx="7849200" cy="211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This system demonstrates how C programming — structures, arrays, functions, loops, and string handling — can build a real-world billing and inventory application.</a:t>
            </a:r>
          </a:p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It provides an efficient foundation for managing products, generating bills, and maintaining stock.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56096" y="5149748"/>
            <a:ext cx="7849200" cy="28575"/>
            <a:chOff x="0" y="0"/>
            <a:chExt cx="1046560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65562" cy="38100"/>
            </a:xfrm>
            <a:custGeom>
              <a:avLst/>
              <a:gdLst/>
              <a:ahLst/>
              <a:cxnLst/>
              <a:rect r="r" b="b" t="t" l="l"/>
              <a:pathLst>
                <a:path h="38100" w="1046556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446512" y="0"/>
                  </a:lnTo>
                  <a:cubicBezTo>
                    <a:pt x="10457053" y="0"/>
                    <a:pt x="10465562" y="8509"/>
                    <a:pt x="10465562" y="19050"/>
                  </a:cubicBezTo>
                  <a:cubicBezTo>
                    <a:pt x="10465562" y="29591"/>
                    <a:pt x="10457053" y="38100"/>
                    <a:pt x="104465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04C49">
                <a:alpha val="24706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56096" y="5427164"/>
            <a:ext cx="7849200" cy="1126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1"/>
              </a:lnSpc>
            </a:pPr>
            <a:r>
              <a:rPr lang="en-US" sz="670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56096" y="6713934"/>
            <a:ext cx="8763600" cy="42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DAHOrby8Izc</dc:identifier>
  <dcterms:modified xsi:type="dcterms:W3CDTF">2011-08-01T06:04:30Z</dcterms:modified>
  <cp:revision>1</cp:revision>
  <dc:title>POS-Billing-System-using-C-Programming.pptx</dc:title>
</cp:coreProperties>
</file>