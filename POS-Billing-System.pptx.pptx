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media/image4.png" ContentType="image/png"/>
  <Override PartName="/ppt/media/image12.png" ContentType="image/png"/>
  <Override PartName="/ppt/media/image5.svg" ContentType="image/svg"/>
  <Override PartName="/ppt/media/image29.jpeg" ContentType="image/jpeg"/>
  <Override PartName="/ppt/media/image6.png" ContentType="image/png"/>
  <Override PartName="/ppt/media/image14.png" ContentType="image/png"/>
  <Override PartName="/ppt/media/image7.svg" ContentType="image/svg"/>
  <Override PartName="/ppt/media/image30.jpeg" ContentType="image/jpeg"/>
  <Override PartName="/ppt/media/image1.png" ContentType="image/png"/>
  <Override PartName="/ppt/media/image13.svg" ContentType="image/svg"/>
  <Override PartName="/ppt/media/image33.png" ContentType="image/png"/>
  <Override PartName="/ppt/media/image10.png" ContentType="image/png"/>
  <Override PartName="/ppt/media/image15.jpeg" ContentType="image/jpeg"/>
  <Override PartName="/ppt/media/image2.jpeg" ContentType="image/jpeg"/>
  <Override PartName="/ppt/media/image18.png" ContentType="image/png"/>
  <Override PartName="/ppt/media/image19.svg" ContentType="image/svg"/>
  <Override PartName="/ppt/media/image8.png" ContentType="image/png"/>
  <Override PartName="/ppt/media/image20.png" ContentType="image/png"/>
  <Override PartName="/ppt/media/image3.jpeg" ContentType="image/jpeg"/>
  <Override PartName="/ppt/media/image16.png" ContentType="image/png"/>
  <Override PartName="/ppt/media/image11.svg" ContentType="image/svg"/>
  <Override PartName="/ppt/media/image31.png" ContentType="image/png"/>
  <Override PartName="/ppt/media/image17.svg" ContentType="image/svg"/>
  <Override PartName="/ppt/media/image32.svg" ContentType="image/svg"/>
  <Override PartName="/ppt/media/image9.svg" ContentType="image/svg"/>
  <Override PartName="/ppt/media/image21.svg" ContentType="image/svg"/>
  <Override PartName="/ppt/media/image22.png" ContentType="image/png"/>
  <Override PartName="/ppt/media/image23.svg" ContentType="image/svg"/>
  <Override PartName="/ppt/media/image24.png" ContentType="image/png"/>
  <Override PartName="/ppt/media/image27.svg" ContentType="image/svg"/>
  <Override PartName="/ppt/media/image28.jpeg" ContentType="image/jpeg"/>
  <Override PartName="/ppt/media/image25.svg" ContentType="image/svg"/>
  <Override PartName="/ppt/media/image26.png" ContentType="image/png"/>
  <Override PartName="/ppt/media/image34.jpeg" ContentType="image/jpe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rtl="0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8288000" cy="10287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Double-tap to move the slide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Double-tap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Noto Sans CJK SC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Noto Sans CJK SC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Noto Sans CJK SC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fld id="{73029DBA-B5A0-4EA7-9E2A-3CA7C4CB634E}" type="slidenum">
              <a:rPr b="0" lang="en-US" sz="1400" strike="noStrike" u="none">
                <a:solidFill>
                  <a:srgbClr val="000000"/>
                </a:solidFill>
                <a:uFillTx/>
                <a:latin typeface="Noto Sans CJK SC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dt" idx="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1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 type="ftr" idx="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23" name="PlaceHolder 6"/>
          <p:cNvSpPr>
            <a:spLocks noGrp="1"/>
          </p:cNvSpPr>
          <p:nvPr>
            <p:ph type="sldNum" idx="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1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2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28" name="PlaceHolder 5"/>
          <p:cNvSpPr>
            <a:spLocks noGrp="1"/>
          </p:cNvSpPr>
          <p:nvPr>
            <p:ph type="ftr" idx="1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29" name="PlaceHolder 6"/>
          <p:cNvSpPr>
            <a:spLocks noGrp="1"/>
          </p:cNvSpPr>
          <p:nvPr>
            <p:ph type="sldNum" idx="1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dt" idx="1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4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34" name="PlaceHolder 5"/>
          <p:cNvSpPr>
            <a:spLocks noGrp="1"/>
          </p:cNvSpPr>
          <p:nvPr>
            <p:ph type="ftr" idx="1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35" name="PlaceHolder 6"/>
          <p:cNvSpPr>
            <a:spLocks noGrp="1"/>
          </p:cNvSpPr>
          <p:nvPr>
            <p:ph type="sldNum" idx="1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dt" idx="16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5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 type="ftr" idx="17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 type="sldNum" idx="18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dt" idx="19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6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ftr" idx="20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47" name="PlaceHolder 6"/>
          <p:cNvSpPr>
            <a:spLocks noGrp="1"/>
          </p:cNvSpPr>
          <p:nvPr>
            <p:ph type="sldNum" idx="21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dt" idx="22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7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52" name="PlaceHolder 5"/>
          <p:cNvSpPr>
            <a:spLocks noGrp="1"/>
          </p:cNvSpPr>
          <p:nvPr>
            <p:ph type="ftr" idx="23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53" name="PlaceHolder 6"/>
          <p:cNvSpPr>
            <a:spLocks noGrp="1"/>
          </p:cNvSpPr>
          <p:nvPr>
            <p:ph type="sldNum" idx="24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dt" idx="25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8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 type="ftr" idx="26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59" name="PlaceHolder 6"/>
          <p:cNvSpPr>
            <a:spLocks noGrp="1"/>
          </p:cNvSpPr>
          <p:nvPr>
            <p:ph type="sldNum" idx="27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dt" idx="28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9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64" name="PlaceHolder 5"/>
          <p:cNvSpPr>
            <a:spLocks noGrp="1"/>
          </p:cNvSpPr>
          <p:nvPr>
            <p:ph type="ftr" idx="29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65" name="PlaceHolder 6"/>
          <p:cNvSpPr>
            <a:spLocks noGrp="1"/>
          </p:cNvSpPr>
          <p:nvPr>
            <p:ph type="sldNum" idx="30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dt" idx="31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Noto Sans CJK SC"/>
              </a:rPr>
              <a:t>10</a:t>
            </a:r>
            <a:endParaRPr b="0" lang="en-US" sz="20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ftr" idx="32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71" name="PlaceHolder 6"/>
          <p:cNvSpPr>
            <a:spLocks noGrp="1"/>
          </p:cNvSpPr>
          <p:nvPr>
            <p:ph type="sldNum" idx="33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‹</a:t>
            </a:r>
            <a:r>
              <a:rPr b="0" lang="cs-CZ" sz="1200" strike="noStrike" u="none">
                <a:solidFill>
                  <a:srgbClr val="000000"/>
                </a:solidFill>
                <a:uFillTx/>
                <a:latin typeface="Noto Sans CJK SC"/>
              </a:rPr>
              <a:t>#›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48A760-0D68-4A94-929C-1CE441E673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Noto Sans CJK SC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9E6EDA-A1BD-4B90-8AE5-4EB35B919FF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Double-tap to edit the title text format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Double-tap to edit the outline text format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sv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svg"/><Relationship Id="rId9" Type="http://schemas.openxmlformats.org/officeDocument/2006/relationships/image" Target="../media/image12.png"/><Relationship Id="rId10" Type="http://schemas.openxmlformats.org/officeDocument/2006/relationships/image" Target="../media/image13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image" Target="../media/image20.png"/><Relationship Id="rId6" Type="http://schemas.openxmlformats.org/officeDocument/2006/relationships/image" Target="../media/image21.svg"/><Relationship Id="rId7" Type="http://schemas.openxmlformats.org/officeDocument/2006/relationships/image" Target="../media/image22.png"/><Relationship Id="rId8" Type="http://schemas.openxmlformats.org/officeDocument/2006/relationships/image" Target="../media/image23.svg"/><Relationship Id="rId9" Type="http://schemas.openxmlformats.org/officeDocument/2006/relationships/image" Target="../media/image24.png"/><Relationship Id="rId10" Type="http://schemas.openxmlformats.org/officeDocument/2006/relationships/image" Target="../media/image25.svg"/><Relationship Id="rId11" Type="http://schemas.openxmlformats.org/officeDocument/2006/relationships/image" Target="../media/image26.png"/><Relationship Id="rId12" Type="http://schemas.openxmlformats.org/officeDocument/2006/relationships/image" Target="../media/image27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8.jpeg"/><Relationship Id="rId2" Type="http://schemas.openxmlformats.org/officeDocument/2006/relationships/image" Target="../media/image29.jpeg"/><Relationship Id="rId3" Type="http://schemas.openxmlformats.org/officeDocument/2006/relationships/image" Target="../media/image30.jpeg"/><Relationship Id="rId4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image" Target="../media/image33.png"/><Relationship Id="rId4" Type="http://schemas.openxmlformats.org/officeDocument/2006/relationships/image" Target="../media/image33.png"/><Relationship Id="rId5" Type="http://schemas.openxmlformats.org/officeDocument/2006/relationships/image" Target="../media/image3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34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12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3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14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5" name="Group 6"/>
          <p:cNvGrpSpPr/>
          <p:nvPr/>
        </p:nvGrpSpPr>
        <p:grpSpPr>
          <a:xfrm>
            <a:off x="16058520" y="9689040"/>
            <a:ext cx="2143440" cy="511560"/>
            <a:chOff x="16058520" y="9689040"/>
            <a:chExt cx="2143440" cy="511560"/>
          </a:xfrm>
        </p:grpSpPr>
        <p:sp>
          <p:nvSpPr>
            <p:cNvPr id="16" name="Freeform 7">
              <a:hlinkClick r:id="rId1"/>
            </p:cNvPr>
            <p:cNvSpPr/>
            <p:nvPr/>
          </p:nvSpPr>
          <p:spPr>
            <a:xfrm>
              <a:off x="16058520" y="9689040"/>
              <a:ext cx="2143440" cy="511560"/>
            </a:xfrm>
            <a:custGeom>
              <a:avLst/>
              <a:gdLst>
                <a:gd name="textAreaLeft" fmla="*/ 0 w 2143440"/>
                <a:gd name="textAreaRight" fmla="*/ 2143800 w 214344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2858262" h="68275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l="-16677" t="-16748" r="-16677" b="-16748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7" name="Group 8"/>
          <p:cNvGrpSpPr/>
          <p:nvPr/>
        </p:nvGrpSpPr>
        <p:grpSpPr>
          <a:xfrm>
            <a:off x="11430000" y="0"/>
            <a:ext cx="6857640" cy="10286640"/>
            <a:chOff x="11430000" y="0"/>
            <a:chExt cx="6857640" cy="10286640"/>
          </a:xfrm>
        </p:grpSpPr>
        <p:sp>
          <p:nvSpPr>
            <p:cNvPr id="18" name="Freeform 9"/>
            <p:cNvSpPr/>
            <p:nvPr/>
          </p:nvSpPr>
          <p:spPr>
            <a:xfrm>
              <a:off x="11430000" y="0"/>
              <a:ext cx="6857640" cy="10286640"/>
            </a:xfrm>
            <a:custGeom>
              <a:avLst/>
              <a:gdLst>
                <a:gd name="textAreaLeft" fmla="*/ 0 w 6857640"/>
                <a:gd name="textAreaRight" fmla="*/ 6858000 w 685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>
                <a:fillRect l="-16670" t="-16668" r="-16670" b="-16668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9" name="TextBox 10"/>
          <p:cNvSpPr/>
          <p:nvPr/>
        </p:nvSpPr>
        <p:spPr>
          <a:xfrm>
            <a:off x="992160" y="3777840"/>
            <a:ext cx="9445320" cy="87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863"/>
              </a:lnSpc>
            </a:pPr>
            <a:r>
              <a:rPr b="0" lang="en-US" sz="55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POS Billing System</a:t>
            </a:r>
            <a:endParaRPr b="0" lang="en-US" sz="55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0" name="TextBox 11"/>
          <p:cNvSpPr/>
          <p:nvPr/>
        </p:nvSpPr>
        <p:spPr>
          <a:xfrm>
            <a:off x="992160" y="5060520"/>
            <a:ext cx="10359720" cy="35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Point of Sale &amp; Inventory Management System using C Programming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JJ College of Engineering and Technology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Computer Science &amp; Engineering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Prakash N -811325104154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Mohamed Sameer M-811325104127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Mohamed Rashik Jabar Sheik-811325104126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22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3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24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5" name="Group 6"/>
          <p:cNvGrpSpPr/>
          <p:nvPr/>
        </p:nvGrpSpPr>
        <p:grpSpPr>
          <a:xfrm>
            <a:off x="16058520" y="9689040"/>
            <a:ext cx="2143440" cy="511560"/>
            <a:chOff x="16058520" y="9689040"/>
            <a:chExt cx="2143440" cy="511560"/>
          </a:xfrm>
        </p:grpSpPr>
        <p:sp>
          <p:nvSpPr>
            <p:cNvPr id="26" name="Freeform 7">
              <a:hlinkClick r:id="rId1"/>
            </p:cNvPr>
            <p:cNvSpPr/>
            <p:nvPr/>
          </p:nvSpPr>
          <p:spPr>
            <a:xfrm>
              <a:off x="16058520" y="9689040"/>
              <a:ext cx="2143440" cy="511560"/>
            </a:xfrm>
            <a:custGeom>
              <a:avLst/>
              <a:gdLst>
                <a:gd name="textAreaLeft" fmla="*/ 0 w 2143440"/>
                <a:gd name="textAreaRight" fmla="*/ 2143800 w 214344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2858262" h="68275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l="-16677" t="-16748" r="-16677" b="-16748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7" name="Group 8"/>
          <p:cNvGrpSpPr/>
          <p:nvPr/>
        </p:nvGrpSpPr>
        <p:grpSpPr>
          <a:xfrm>
            <a:off x="11430000" y="0"/>
            <a:ext cx="6857640" cy="10286640"/>
            <a:chOff x="11430000" y="0"/>
            <a:chExt cx="6857640" cy="10286640"/>
          </a:xfrm>
        </p:grpSpPr>
        <p:sp>
          <p:nvSpPr>
            <p:cNvPr id="28" name="Freeform 9"/>
            <p:cNvSpPr/>
            <p:nvPr/>
          </p:nvSpPr>
          <p:spPr>
            <a:xfrm>
              <a:off x="11430000" y="0"/>
              <a:ext cx="6857640" cy="10286640"/>
            </a:xfrm>
            <a:custGeom>
              <a:avLst/>
              <a:gdLst>
                <a:gd name="textAreaLeft" fmla="*/ 0 w 6857640"/>
                <a:gd name="textAreaRight" fmla="*/ 6858000 w 685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>
                <a:fillRect l="-16670" t="-16668" r="-16670" b="-16668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29" name="TextBox 10"/>
          <p:cNvSpPr/>
          <p:nvPr/>
        </p:nvSpPr>
        <p:spPr>
          <a:xfrm>
            <a:off x="992160" y="1007280"/>
            <a:ext cx="944532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738"/>
              </a:lnSpc>
            </a:pPr>
            <a:r>
              <a:rPr b="0" lang="en-US" sz="54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What Is the POS Billing System?</a:t>
            </a:r>
            <a:endParaRPr b="0" lang="en-US" sz="5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0" name="TextBox 11"/>
          <p:cNvSpPr/>
          <p:nvPr/>
        </p:nvSpPr>
        <p:spPr>
          <a:xfrm>
            <a:off x="992160" y="3144600"/>
            <a:ext cx="9445320" cy="16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5"/>
              </a:lnSpc>
            </a:pPr>
            <a:r>
              <a:rPr b="0" lang="en-US" sz="21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A console-based application developed in C that automates product management and customer billing for supermarkets, grocery stores, and retail shops. It replaces slow, error-prone manual processes with a fast, accurate, computerized solution.</a:t>
            </a:r>
            <a:endParaRPr b="0" lang="en-US" sz="21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31" name="Group 12"/>
          <p:cNvGrpSpPr/>
          <p:nvPr/>
        </p:nvGrpSpPr>
        <p:grpSpPr>
          <a:xfrm>
            <a:off x="992160" y="5301360"/>
            <a:ext cx="4584960" cy="2044440"/>
            <a:chOff x="992160" y="5301360"/>
            <a:chExt cx="4584960" cy="2044440"/>
          </a:xfrm>
        </p:grpSpPr>
        <p:sp>
          <p:nvSpPr>
            <p:cNvPr id="32" name="Freeform 13"/>
            <p:cNvSpPr/>
            <p:nvPr/>
          </p:nvSpPr>
          <p:spPr>
            <a:xfrm>
              <a:off x="992160" y="5301360"/>
              <a:ext cx="4584960" cy="2044440"/>
            </a:xfrm>
            <a:custGeom>
              <a:avLst/>
              <a:gdLst>
                <a:gd name="textAreaLeft" fmla="*/ 0 w 4584960"/>
                <a:gd name="textAreaRight" fmla="*/ 4585320 w 4584960"/>
                <a:gd name="textAreaTop" fmla="*/ 0 h 2044440"/>
                <a:gd name="textAreaBottom" fmla="*/ 2044800 h 2044440"/>
              </a:gdLst>
              <a:ahLst/>
              <a:rect l="textAreaLeft" t="textAreaTop" r="textAreaRight" b="textAreaBottom"/>
              <a:pathLst>
                <a:path w="6113780" h="2726309">
                  <a:moveTo>
                    <a:pt x="0" y="55753"/>
                  </a:moveTo>
                  <a:cubicBezTo>
                    <a:pt x="0" y="25019"/>
                    <a:pt x="25019" y="0"/>
                    <a:pt x="55753" y="0"/>
                  </a:cubicBezTo>
                  <a:lnTo>
                    <a:pt x="6058027" y="0"/>
                  </a:lnTo>
                  <a:cubicBezTo>
                    <a:pt x="6088888" y="0"/>
                    <a:pt x="6113780" y="25019"/>
                    <a:pt x="6113780" y="55753"/>
                  </a:cubicBezTo>
                  <a:lnTo>
                    <a:pt x="6113780" y="2670556"/>
                  </a:lnTo>
                  <a:cubicBezTo>
                    <a:pt x="6113780" y="2701417"/>
                    <a:pt x="6088761" y="2726309"/>
                    <a:pt x="6058027" y="2726309"/>
                  </a:cubicBezTo>
                  <a:lnTo>
                    <a:pt x="55753" y="2726309"/>
                  </a:lnTo>
                  <a:cubicBezTo>
                    <a:pt x="24892" y="2726309"/>
                    <a:pt x="0" y="2701290"/>
                    <a:pt x="0" y="2670556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33" name="TextBox 14"/>
          <p:cNvSpPr/>
          <p:nvPr/>
        </p:nvSpPr>
        <p:spPr>
          <a:xfrm>
            <a:off x="1271160" y="5551560"/>
            <a:ext cx="40269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Automated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4" name="TextBox 15"/>
          <p:cNvSpPr/>
          <p:nvPr/>
        </p:nvSpPr>
        <p:spPr>
          <a:xfrm>
            <a:off x="1271160" y="6104880"/>
            <a:ext cx="40269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5"/>
              </a:lnSpc>
            </a:pPr>
            <a:r>
              <a:rPr b="0" lang="en-US" sz="21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Handles billing and inventory without manual effort</a:t>
            </a:r>
            <a:endParaRPr b="0" lang="en-US" sz="21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35" name="Group 16"/>
          <p:cNvGrpSpPr/>
          <p:nvPr/>
        </p:nvGrpSpPr>
        <p:grpSpPr>
          <a:xfrm>
            <a:off x="5852520" y="5301360"/>
            <a:ext cx="4584960" cy="2044440"/>
            <a:chOff x="5852520" y="5301360"/>
            <a:chExt cx="4584960" cy="2044440"/>
          </a:xfrm>
        </p:grpSpPr>
        <p:sp>
          <p:nvSpPr>
            <p:cNvPr id="36" name="Freeform 17"/>
            <p:cNvSpPr/>
            <p:nvPr/>
          </p:nvSpPr>
          <p:spPr>
            <a:xfrm>
              <a:off x="5852520" y="5301360"/>
              <a:ext cx="4584960" cy="2044440"/>
            </a:xfrm>
            <a:custGeom>
              <a:avLst/>
              <a:gdLst>
                <a:gd name="textAreaLeft" fmla="*/ 0 w 4584960"/>
                <a:gd name="textAreaRight" fmla="*/ 4585320 w 4584960"/>
                <a:gd name="textAreaTop" fmla="*/ 0 h 2044440"/>
                <a:gd name="textAreaBottom" fmla="*/ 2044800 h 2044440"/>
              </a:gdLst>
              <a:ahLst/>
              <a:rect l="textAreaLeft" t="textAreaTop" r="textAreaRight" b="textAreaBottom"/>
              <a:pathLst>
                <a:path w="6113780" h="2726309">
                  <a:moveTo>
                    <a:pt x="0" y="55753"/>
                  </a:moveTo>
                  <a:cubicBezTo>
                    <a:pt x="0" y="25019"/>
                    <a:pt x="25019" y="0"/>
                    <a:pt x="55753" y="0"/>
                  </a:cubicBezTo>
                  <a:lnTo>
                    <a:pt x="6058027" y="0"/>
                  </a:lnTo>
                  <a:cubicBezTo>
                    <a:pt x="6088888" y="0"/>
                    <a:pt x="6113780" y="25019"/>
                    <a:pt x="6113780" y="55753"/>
                  </a:cubicBezTo>
                  <a:lnTo>
                    <a:pt x="6113780" y="2670556"/>
                  </a:lnTo>
                  <a:cubicBezTo>
                    <a:pt x="6113780" y="2701417"/>
                    <a:pt x="6088761" y="2726309"/>
                    <a:pt x="6058027" y="2726309"/>
                  </a:cubicBezTo>
                  <a:lnTo>
                    <a:pt x="55753" y="2726309"/>
                  </a:lnTo>
                  <a:cubicBezTo>
                    <a:pt x="24892" y="2726309"/>
                    <a:pt x="0" y="2701290"/>
                    <a:pt x="0" y="2670556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37" name="TextBox 18"/>
          <p:cNvSpPr/>
          <p:nvPr/>
        </p:nvSpPr>
        <p:spPr>
          <a:xfrm>
            <a:off x="6131520" y="5551560"/>
            <a:ext cx="40269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Accurate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" name="TextBox 19"/>
          <p:cNvSpPr/>
          <p:nvPr/>
        </p:nvSpPr>
        <p:spPr>
          <a:xfrm>
            <a:off x="6131520" y="6104880"/>
            <a:ext cx="40269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5"/>
              </a:lnSpc>
            </a:pPr>
            <a:r>
              <a:rPr b="0" lang="en-US" sz="21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Eliminates calculation errors at checkout</a:t>
            </a:r>
            <a:endParaRPr b="0" lang="en-US" sz="21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39" name="Group 20"/>
          <p:cNvGrpSpPr/>
          <p:nvPr/>
        </p:nvGrpSpPr>
        <p:grpSpPr>
          <a:xfrm>
            <a:off x="992160" y="7620840"/>
            <a:ext cx="9445320" cy="1601640"/>
            <a:chOff x="992160" y="7620840"/>
            <a:chExt cx="9445320" cy="1601640"/>
          </a:xfrm>
        </p:grpSpPr>
        <p:sp>
          <p:nvSpPr>
            <p:cNvPr id="40" name="Freeform 21"/>
            <p:cNvSpPr/>
            <p:nvPr/>
          </p:nvSpPr>
          <p:spPr>
            <a:xfrm>
              <a:off x="992160" y="7620840"/>
              <a:ext cx="9445320" cy="1601640"/>
            </a:xfrm>
            <a:custGeom>
              <a:avLst/>
              <a:gdLst>
                <a:gd name="textAreaLeft" fmla="*/ 0 w 9445320"/>
                <a:gd name="textAreaRight" fmla="*/ 9445680 w 9445320"/>
                <a:gd name="textAreaTop" fmla="*/ 0 h 1601640"/>
                <a:gd name="textAreaBottom" fmla="*/ 1602000 h 1601640"/>
              </a:gdLst>
              <a:ahLst/>
              <a:rect l="textAreaLeft" t="textAreaTop" r="textAreaRight" b="textAreaBottom"/>
              <a:pathLst>
                <a:path w="12594082" h="2135886">
                  <a:moveTo>
                    <a:pt x="0" y="55880"/>
                  </a:moveTo>
                  <a:cubicBezTo>
                    <a:pt x="0" y="25019"/>
                    <a:pt x="25019" y="0"/>
                    <a:pt x="55880" y="0"/>
                  </a:cubicBezTo>
                  <a:lnTo>
                    <a:pt x="12538202" y="0"/>
                  </a:lnTo>
                  <a:cubicBezTo>
                    <a:pt x="12569063" y="0"/>
                    <a:pt x="12594082" y="25019"/>
                    <a:pt x="12594082" y="55880"/>
                  </a:cubicBezTo>
                  <a:lnTo>
                    <a:pt x="12594082" y="2080006"/>
                  </a:lnTo>
                  <a:cubicBezTo>
                    <a:pt x="12594082" y="2110867"/>
                    <a:pt x="12569063" y="2135886"/>
                    <a:pt x="12538202" y="2135886"/>
                  </a:cubicBezTo>
                  <a:lnTo>
                    <a:pt x="55880" y="2135886"/>
                  </a:lnTo>
                  <a:cubicBezTo>
                    <a:pt x="25019" y="2135886"/>
                    <a:pt x="0" y="2110867"/>
                    <a:pt x="0" y="2080006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41" name="TextBox 22"/>
          <p:cNvSpPr/>
          <p:nvPr/>
        </p:nvSpPr>
        <p:spPr>
          <a:xfrm>
            <a:off x="1271160" y="7871400"/>
            <a:ext cx="88869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Retail-Ready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" name="TextBox 23"/>
          <p:cNvSpPr/>
          <p:nvPr/>
        </p:nvSpPr>
        <p:spPr>
          <a:xfrm>
            <a:off x="1271160" y="8424360"/>
            <a:ext cx="8886960" cy="4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5"/>
              </a:lnSpc>
            </a:pPr>
            <a:r>
              <a:rPr b="0" lang="en-US" sz="21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Designed for supermarkets and grocery stores</a:t>
            </a:r>
            <a:endParaRPr b="0" lang="en-US" sz="21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44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45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46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47" name="TextBox 6"/>
          <p:cNvSpPr/>
          <p:nvPr/>
        </p:nvSpPr>
        <p:spPr>
          <a:xfrm>
            <a:off x="992160" y="2004840"/>
            <a:ext cx="16303320" cy="87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863"/>
              </a:lnSpc>
            </a:pPr>
            <a:r>
              <a:rPr b="0" lang="en-US" sz="55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Project Objectives</a:t>
            </a:r>
            <a:endParaRPr b="0" lang="en-US" sz="55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8" name="Freeform 7"/>
          <p:cNvSpPr/>
          <p:nvPr/>
        </p:nvSpPr>
        <p:spPr>
          <a:xfrm>
            <a:off x="992160" y="3515040"/>
            <a:ext cx="566640" cy="566640"/>
          </a:xfrm>
          <a:custGeom>
            <a:avLst/>
            <a:gdLst>
              <a:gd name="textAreaLeft" fmla="*/ 0 w 566640"/>
              <a:gd name="textAreaRight" fmla="*/ 567000 w 566640"/>
              <a:gd name="textAreaTop" fmla="*/ 0 h 566640"/>
              <a:gd name="textAreaBottom" fmla="*/ 567000 h 566640"/>
            </a:gdLst>
            <a:ahLst/>
            <a:rect l="textAreaLeft" t="textAreaTop" r="textAreaRight" b="textAreaBottom"/>
            <a:pathLst>
              <a:path w="567033" h="567033">
                <a:moveTo>
                  <a:pt x="0" y="0"/>
                </a:moveTo>
                <a:lnTo>
                  <a:pt x="567033" y="0"/>
                </a:lnTo>
                <a:lnTo>
                  <a:pt x="567033" y="567032"/>
                </a:lnTo>
                <a:lnTo>
                  <a:pt x="0" y="56703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9" name="TextBox 8"/>
          <p:cNvSpPr/>
          <p:nvPr/>
        </p:nvSpPr>
        <p:spPr>
          <a:xfrm>
            <a:off x="1913760" y="3583800"/>
            <a:ext cx="42764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Product Management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0" name="TextBox 9"/>
          <p:cNvSpPr/>
          <p:nvPr/>
        </p:nvSpPr>
        <p:spPr>
          <a:xfrm>
            <a:off x="1913760" y="4139640"/>
            <a:ext cx="4276440" cy="13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Add, update, delete, and search products by ID with duplicate validation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1" name="Freeform 10"/>
          <p:cNvSpPr/>
          <p:nvPr/>
        </p:nvSpPr>
        <p:spPr>
          <a:xfrm>
            <a:off x="6544800" y="3515040"/>
            <a:ext cx="566640" cy="566640"/>
          </a:xfrm>
          <a:custGeom>
            <a:avLst/>
            <a:gdLst>
              <a:gd name="textAreaLeft" fmla="*/ 0 w 566640"/>
              <a:gd name="textAreaRight" fmla="*/ 567000 w 566640"/>
              <a:gd name="textAreaTop" fmla="*/ 0 h 566640"/>
              <a:gd name="textAreaBottom" fmla="*/ 567000 h 566640"/>
            </a:gdLst>
            <a:ahLst/>
            <a:rect l="textAreaLeft" t="textAreaTop" r="textAreaRight" b="textAreaBottom"/>
            <a:pathLst>
              <a:path w="567033" h="567033">
                <a:moveTo>
                  <a:pt x="0" y="0"/>
                </a:moveTo>
                <a:lnTo>
                  <a:pt x="567032" y="0"/>
                </a:lnTo>
                <a:lnTo>
                  <a:pt x="567032" y="567032"/>
                </a:lnTo>
                <a:lnTo>
                  <a:pt x="0" y="56703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2" name="TextBox 11"/>
          <p:cNvSpPr/>
          <p:nvPr/>
        </p:nvSpPr>
        <p:spPr>
          <a:xfrm>
            <a:off x="7466400" y="3583800"/>
            <a:ext cx="42764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Customer Billing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3" name="TextBox 12"/>
          <p:cNvSpPr/>
          <p:nvPr/>
        </p:nvSpPr>
        <p:spPr>
          <a:xfrm>
            <a:off x="7466400" y="4139640"/>
            <a:ext cx="4276440" cy="89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Generate bills and calculate totals automatically at checkout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4" name="Freeform 13"/>
          <p:cNvSpPr/>
          <p:nvPr/>
        </p:nvSpPr>
        <p:spPr>
          <a:xfrm>
            <a:off x="12097440" y="3515040"/>
            <a:ext cx="566640" cy="566640"/>
          </a:xfrm>
          <a:custGeom>
            <a:avLst/>
            <a:gdLst>
              <a:gd name="textAreaLeft" fmla="*/ 0 w 566640"/>
              <a:gd name="textAreaRight" fmla="*/ 567000 w 566640"/>
              <a:gd name="textAreaTop" fmla="*/ 0 h 566640"/>
              <a:gd name="textAreaBottom" fmla="*/ 567000 h 566640"/>
            </a:gdLst>
            <a:ahLst/>
            <a:rect l="textAreaLeft" t="textAreaTop" r="textAreaRight" b="textAreaBottom"/>
            <a:pathLst>
              <a:path w="567033" h="567033">
                <a:moveTo>
                  <a:pt x="0" y="0"/>
                </a:moveTo>
                <a:lnTo>
                  <a:pt x="567033" y="0"/>
                </a:lnTo>
                <a:lnTo>
                  <a:pt x="567033" y="567032"/>
                </a:lnTo>
                <a:lnTo>
                  <a:pt x="0" y="56703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5" name="TextBox 14"/>
          <p:cNvSpPr/>
          <p:nvPr/>
        </p:nvSpPr>
        <p:spPr>
          <a:xfrm>
            <a:off x="13019040" y="3583800"/>
            <a:ext cx="42764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Inventory Control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6" name="TextBox 15"/>
          <p:cNvSpPr/>
          <p:nvPr/>
        </p:nvSpPr>
        <p:spPr>
          <a:xfrm>
            <a:off x="13019040" y="4139640"/>
            <a:ext cx="4276440" cy="89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Track stock levels and update quantities in real time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7" name="Freeform 16"/>
          <p:cNvSpPr/>
          <p:nvPr/>
        </p:nvSpPr>
        <p:spPr>
          <a:xfrm>
            <a:off x="992160" y="6153480"/>
            <a:ext cx="566640" cy="566640"/>
          </a:xfrm>
          <a:custGeom>
            <a:avLst/>
            <a:gdLst>
              <a:gd name="textAreaLeft" fmla="*/ 0 w 566640"/>
              <a:gd name="textAreaRight" fmla="*/ 567000 w 566640"/>
              <a:gd name="textAreaTop" fmla="*/ 0 h 566640"/>
              <a:gd name="textAreaBottom" fmla="*/ 567000 h 566640"/>
            </a:gdLst>
            <a:ahLst/>
            <a:rect l="textAreaLeft" t="textAreaTop" r="textAreaRight" b="textAreaBottom"/>
            <a:pathLst>
              <a:path w="567033" h="567033">
                <a:moveTo>
                  <a:pt x="0" y="0"/>
                </a:moveTo>
                <a:lnTo>
                  <a:pt x="567033" y="0"/>
                </a:lnTo>
                <a:lnTo>
                  <a:pt x="567033" y="567033"/>
                </a:lnTo>
                <a:lnTo>
                  <a:pt x="0" y="5670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8" name="TextBox 17"/>
          <p:cNvSpPr/>
          <p:nvPr/>
        </p:nvSpPr>
        <p:spPr>
          <a:xfrm>
            <a:off x="1913760" y="6222240"/>
            <a:ext cx="42764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Persistent Storage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59" name="TextBox 18"/>
          <p:cNvSpPr/>
          <p:nvPr/>
        </p:nvSpPr>
        <p:spPr>
          <a:xfrm>
            <a:off x="1913760" y="6778080"/>
            <a:ext cx="4276440" cy="89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Store all product data using file handling for reliability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60" name="Freeform 19"/>
          <p:cNvSpPr/>
          <p:nvPr/>
        </p:nvSpPr>
        <p:spPr>
          <a:xfrm>
            <a:off x="6544800" y="6153480"/>
            <a:ext cx="566640" cy="566640"/>
          </a:xfrm>
          <a:custGeom>
            <a:avLst/>
            <a:gdLst>
              <a:gd name="textAreaLeft" fmla="*/ 0 w 566640"/>
              <a:gd name="textAreaRight" fmla="*/ 567000 w 566640"/>
              <a:gd name="textAreaTop" fmla="*/ 0 h 566640"/>
              <a:gd name="textAreaBottom" fmla="*/ 567000 h 566640"/>
            </a:gdLst>
            <a:ahLst/>
            <a:rect l="textAreaLeft" t="textAreaTop" r="textAreaRight" b="textAreaBottom"/>
            <a:pathLst>
              <a:path w="567033" h="567033">
                <a:moveTo>
                  <a:pt x="0" y="0"/>
                </a:moveTo>
                <a:lnTo>
                  <a:pt x="567032" y="0"/>
                </a:lnTo>
                <a:lnTo>
                  <a:pt x="567032" y="567033"/>
                </a:lnTo>
                <a:lnTo>
                  <a:pt x="0" y="5670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61" name="TextBox 20"/>
          <p:cNvSpPr/>
          <p:nvPr/>
        </p:nvSpPr>
        <p:spPr>
          <a:xfrm>
            <a:off x="7466400" y="6222240"/>
            <a:ext cx="42764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Speed &amp; Accuracy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62" name="TextBox 21"/>
          <p:cNvSpPr/>
          <p:nvPr/>
        </p:nvSpPr>
        <p:spPr>
          <a:xfrm>
            <a:off x="7466400" y="6778080"/>
            <a:ext cx="4276440" cy="13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Reduce billing errors and improve checkout speed significantly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64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65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66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67" name="TextBox 6"/>
          <p:cNvSpPr/>
          <p:nvPr/>
        </p:nvSpPr>
        <p:spPr>
          <a:xfrm>
            <a:off x="992160" y="825120"/>
            <a:ext cx="16303320" cy="87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863"/>
              </a:lnSpc>
            </a:pPr>
            <a:r>
              <a:rPr b="0" lang="en-US" sz="55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Technologies Used</a:t>
            </a:r>
            <a:endParaRPr b="0" lang="en-US" sz="55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68" name="Group 7"/>
          <p:cNvGrpSpPr/>
          <p:nvPr/>
        </p:nvGrpSpPr>
        <p:grpSpPr>
          <a:xfrm>
            <a:off x="992160" y="2865240"/>
            <a:ext cx="10354680" cy="5867640"/>
            <a:chOff x="992160" y="2865240"/>
            <a:chExt cx="10354680" cy="5867640"/>
          </a:xfrm>
        </p:grpSpPr>
        <p:sp>
          <p:nvSpPr>
            <p:cNvPr id="69" name="Freeform 8"/>
            <p:cNvSpPr/>
            <p:nvPr/>
          </p:nvSpPr>
          <p:spPr>
            <a:xfrm>
              <a:off x="992160" y="2865240"/>
              <a:ext cx="10354680" cy="5867640"/>
            </a:xfrm>
            <a:custGeom>
              <a:avLst/>
              <a:gdLst>
                <a:gd name="textAreaLeft" fmla="*/ 0 w 10354680"/>
                <a:gd name="textAreaRight" fmla="*/ 10355040 w 10354680"/>
                <a:gd name="textAreaTop" fmla="*/ 0 h 5867640"/>
                <a:gd name="textAreaBottom" fmla="*/ 5868000 h 5867640"/>
              </a:gdLst>
              <a:ahLst/>
              <a:rect l="textAreaLeft" t="textAreaTop" r="textAreaRight" b="textAreaBottom"/>
              <a:pathLst>
                <a:path w="13806932" h="7823835">
                  <a:moveTo>
                    <a:pt x="0" y="0"/>
                  </a:moveTo>
                  <a:lnTo>
                    <a:pt x="13806932" y="0"/>
                  </a:lnTo>
                  <a:lnTo>
                    <a:pt x="13806932" y="7823835"/>
                  </a:lnTo>
                  <a:lnTo>
                    <a:pt x="0" y="782383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70" name="TextBox 9"/>
          <p:cNvSpPr/>
          <p:nvPr/>
        </p:nvSpPr>
        <p:spPr>
          <a:xfrm>
            <a:off x="12048840" y="2448360"/>
            <a:ext cx="52560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Programming Language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2048840" y="3117600"/>
            <a:ext cx="5256000" cy="13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1" lang="en-US" sz="2200" strike="noStrike" u="none">
                <a:solidFill>
                  <a:srgbClr val="504c49"/>
                </a:solidFill>
                <a:uFillTx/>
                <a:latin typeface="Source Serif Pro Bold"/>
                <a:ea typeface="Source Serif Pro Bold"/>
              </a:rPr>
              <a:t>C</a:t>
            </a: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 — chosen for its efficiency, low-level control, and strong foundation in systems programming.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048840" y="4819320"/>
            <a:ext cx="52560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Core Concepts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73" name="TextBox 12"/>
          <p:cNvSpPr/>
          <p:nvPr/>
        </p:nvSpPr>
        <p:spPr>
          <a:xfrm>
            <a:off x="12048840" y="5488560"/>
            <a:ext cx="5256000" cy="178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31000" indent="-265320" defTabSz="914400">
              <a:lnSpc>
                <a:spcPts val="3512"/>
              </a:lnSpc>
              <a:buFont typeface="Arial"/>
              <a:buChar char="•"/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Structures &amp; Arrays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lvl="1" marL="531000" indent="-265320" defTabSz="914400">
              <a:lnSpc>
                <a:spcPts val="3512"/>
              </a:lnSpc>
              <a:buFont typeface="Arial"/>
              <a:buChar char="•"/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Functions &amp; Modular Design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lvl="1" marL="531000" indent="-265320" defTabSz="914400">
              <a:lnSpc>
                <a:spcPts val="3512"/>
              </a:lnSpc>
              <a:buFont typeface="Arial"/>
              <a:buChar char="•"/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File &amp; String Handling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lvl="1" marL="531000" indent="-265320" defTabSz="914400">
              <a:lnSpc>
                <a:spcPts val="3512"/>
              </a:lnSpc>
              <a:buFont typeface="Arial"/>
              <a:buChar char="•"/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Loops &amp; Conditionals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74" name="TextBox 13"/>
          <p:cNvSpPr/>
          <p:nvPr/>
        </p:nvSpPr>
        <p:spPr>
          <a:xfrm>
            <a:off x="12048840" y="7940880"/>
            <a:ext cx="52560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Development Tools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75" name="TextBox 14"/>
          <p:cNvSpPr/>
          <p:nvPr/>
        </p:nvSpPr>
        <p:spPr>
          <a:xfrm>
            <a:off x="12048840" y="8610480"/>
            <a:ext cx="6170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12"/>
              </a:lnSpc>
            </a:pPr>
            <a:r>
              <a:rPr b="0" lang="en-US" sz="22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VS Code / Code::Blocks · GCC Compiler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77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78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79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80" name="TextBox 6"/>
          <p:cNvSpPr/>
          <p:nvPr/>
        </p:nvSpPr>
        <p:spPr>
          <a:xfrm>
            <a:off x="992160" y="750960"/>
            <a:ext cx="163033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70"/>
              </a:lnSpc>
            </a:pPr>
            <a:r>
              <a:rPr b="0" lang="en-US" sz="27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System Workflow</a:t>
            </a:r>
            <a:endParaRPr b="0" lang="en-US" sz="27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992160" y="1364400"/>
            <a:ext cx="172177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21"/>
              </a:lnSpc>
            </a:pPr>
            <a:r>
              <a:rPr b="0" lang="en-US" sz="11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A clear, menu-driven flow guides users from login to final data storage — ensuring every step is logical and traceable.</a:t>
            </a:r>
            <a:endParaRPr b="0" lang="en-US" sz="11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82" name="Group 8"/>
          <p:cNvGrpSpPr/>
          <p:nvPr/>
        </p:nvGrpSpPr>
        <p:grpSpPr>
          <a:xfrm>
            <a:off x="992160" y="1613880"/>
            <a:ext cx="14630040" cy="8229240"/>
            <a:chOff x="992160" y="1613880"/>
            <a:chExt cx="14630040" cy="8229240"/>
          </a:xfrm>
        </p:grpSpPr>
        <p:sp>
          <p:nvSpPr>
            <p:cNvPr id="83" name="Freeform 9"/>
            <p:cNvSpPr/>
            <p:nvPr/>
          </p:nvSpPr>
          <p:spPr>
            <a:xfrm>
              <a:off x="992160" y="1613880"/>
              <a:ext cx="14630040" cy="8229240"/>
            </a:xfrm>
            <a:custGeom>
              <a:avLst/>
              <a:gdLst>
                <a:gd name="textAreaLeft" fmla="*/ 0 w 14630040"/>
                <a:gd name="textAreaRight" fmla="*/ 14630400 w 14630040"/>
                <a:gd name="textAreaTop" fmla="*/ 0 h 8229240"/>
                <a:gd name="textAreaBottom" fmla="*/ 8229600 h 8229240"/>
              </a:gdLst>
              <a:ahLst/>
              <a:rect l="textAreaLeft" t="textAreaTop" r="textAreaRight" b="textAreaBottom"/>
              <a:pathLst>
                <a:path w="19507200" h="10972800">
                  <a:moveTo>
                    <a:pt x="0" y="0"/>
                  </a:moveTo>
                  <a:lnTo>
                    <a:pt x="19507200" y="0"/>
                  </a:lnTo>
                  <a:lnTo>
                    <a:pt x="19507200" y="10972800"/>
                  </a:lnTo>
                  <a:lnTo>
                    <a:pt x="0" y="109728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>
                <a:fillRect l="-16668" t="-16669" r="-16668" b="-16669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85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86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87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88" name="TextBox 6"/>
          <p:cNvSpPr/>
          <p:nvPr/>
        </p:nvSpPr>
        <p:spPr>
          <a:xfrm>
            <a:off x="992160" y="763200"/>
            <a:ext cx="16303320" cy="76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90"/>
              </a:lnSpc>
            </a:pPr>
            <a:r>
              <a:rPr b="0" lang="en-US" sz="48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Key Features</a:t>
            </a:r>
            <a:endParaRPr b="0" lang="en-US" sz="4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89" name="Group 7"/>
          <p:cNvGrpSpPr/>
          <p:nvPr/>
        </p:nvGrpSpPr>
        <p:grpSpPr>
          <a:xfrm>
            <a:off x="992160" y="2010600"/>
            <a:ext cx="8042760" cy="2346840"/>
            <a:chOff x="992160" y="2010600"/>
            <a:chExt cx="8042760" cy="2346840"/>
          </a:xfrm>
        </p:grpSpPr>
        <p:sp>
          <p:nvSpPr>
            <p:cNvPr id="90" name="Freeform 8"/>
            <p:cNvSpPr/>
            <p:nvPr/>
          </p:nvSpPr>
          <p:spPr>
            <a:xfrm>
              <a:off x="992160" y="2010600"/>
              <a:ext cx="8042760" cy="2346840"/>
            </a:xfrm>
            <a:custGeom>
              <a:avLst/>
              <a:gdLst>
                <a:gd name="textAreaLeft" fmla="*/ 0 w 8042760"/>
                <a:gd name="textAreaRight" fmla="*/ 8043120 w 804276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10724388" h="3129407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0674731" y="0"/>
                  </a:lnTo>
                  <a:cubicBezTo>
                    <a:pt x="10702163" y="0"/>
                    <a:pt x="10724388" y="22225"/>
                    <a:pt x="10724388" y="49657"/>
                  </a:cubicBezTo>
                  <a:lnTo>
                    <a:pt x="10724388" y="3079750"/>
                  </a:lnTo>
                  <a:cubicBezTo>
                    <a:pt x="10724388" y="3107182"/>
                    <a:pt x="10702163" y="3129407"/>
                    <a:pt x="10674731" y="3129407"/>
                  </a:cubicBezTo>
                  <a:lnTo>
                    <a:pt x="49657" y="3129407"/>
                  </a:lnTo>
                  <a:cubicBezTo>
                    <a:pt x="22225" y="3129407"/>
                    <a:pt x="0" y="3107182"/>
                    <a:pt x="0" y="3079750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91" name="Group 9"/>
          <p:cNvGrpSpPr/>
          <p:nvPr/>
        </p:nvGrpSpPr>
        <p:grpSpPr>
          <a:xfrm>
            <a:off x="1240200" y="2258640"/>
            <a:ext cx="743760" cy="743760"/>
            <a:chOff x="1240200" y="2258640"/>
            <a:chExt cx="743760" cy="743760"/>
          </a:xfrm>
        </p:grpSpPr>
        <p:sp>
          <p:nvSpPr>
            <p:cNvPr id="92" name="Freeform 10"/>
            <p:cNvSpPr/>
            <p:nvPr/>
          </p:nvSpPr>
          <p:spPr>
            <a:xfrm>
              <a:off x="1240200" y="2258640"/>
              <a:ext cx="743760" cy="743760"/>
            </a:xfrm>
            <a:custGeom>
              <a:avLst/>
              <a:gdLst>
                <a:gd name="textAreaLeft" fmla="*/ 0 w 743760"/>
                <a:gd name="textAreaRight" fmla="*/ 744120 w 743760"/>
                <a:gd name="textAreaTop" fmla="*/ 0 h 743760"/>
                <a:gd name="textAreaBottom" fmla="*/ 744120 h 743760"/>
              </a:gdLst>
              <a:ahLst/>
              <a:rect l="textAreaLeft" t="textAreaTop" r="textAreaRight" b="textAreaBottom"/>
              <a:pathLst>
                <a:path w="992124" h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128" y="992124"/>
                    <a:pt x="496062" y="992124"/>
                  </a:cubicBezTo>
                  <a:cubicBezTo>
                    <a:pt x="221996" y="992124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93" name="Freeform 11"/>
          <p:cNvSpPr/>
          <p:nvPr/>
        </p:nvSpPr>
        <p:spPr>
          <a:xfrm>
            <a:off x="1444680" y="2463120"/>
            <a:ext cx="334440" cy="334440"/>
          </a:xfrm>
          <a:custGeom>
            <a:avLst/>
            <a:gdLst>
              <a:gd name="textAreaLeft" fmla="*/ 0 w 334440"/>
              <a:gd name="textAreaRight" fmla="*/ 334800 w 334440"/>
              <a:gd name="textAreaTop" fmla="*/ 0 h 334440"/>
              <a:gd name="textAreaBottom" fmla="*/ 334800 h 334440"/>
            </a:gdLst>
            <a:ahLst/>
            <a:rect l="textAreaLeft" t="textAreaTop" r="textAreaRight" b="textAreaBottom"/>
            <a:pathLst>
              <a:path w="334861" h="334861">
                <a:moveTo>
                  <a:pt x="0" y="0"/>
                </a:moveTo>
                <a:lnTo>
                  <a:pt x="334861" y="0"/>
                </a:lnTo>
                <a:lnTo>
                  <a:pt x="33486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94" name="TextBox 12"/>
          <p:cNvSpPr/>
          <p:nvPr/>
        </p:nvSpPr>
        <p:spPr>
          <a:xfrm>
            <a:off x="1240200" y="3200400"/>
            <a:ext cx="7547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Product Management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95" name="TextBox 13"/>
          <p:cNvSpPr/>
          <p:nvPr/>
        </p:nvSpPr>
        <p:spPr>
          <a:xfrm>
            <a:off x="1240200" y="3680280"/>
            <a:ext cx="75470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49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Full CRUD operations with ID validation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96" name="Group 14"/>
          <p:cNvGrpSpPr/>
          <p:nvPr/>
        </p:nvGrpSpPr>
        <p:grpSpPr>
          <a:xfrm>
            <a:off x="9252360" y="2010600"/>
            <a:ext cx="8042760" cy="2346840"/>
            <a:chOff x="9252360" y="2010600"/>
            <a:chExt cx="8042760" cy="2346840"/>
          </a:xfrm>
        </p:grpSpPr>
        <p:sp>
          <p:nvSpPr>
            <p:cNvPr id="97" name="Freeform 15"/>
            <p:cNvSpPr/>
            <p:nvPr/>
          </p:nvSpPr>
          <p:spPr>
            <a:xfrm>
              <a:off x="9252360" y="2010600"/>
              <a:ext cx="8042760" cy="2346840"/>
            </a:xfrm>
            <a:custGeom>
              <a:avLst/>
              <a:gdLst>
                <a:gd name="textAreaLeft" fmla="*/ 0 w 8042760"/>
                <a:gd name="textAreaRight" fmla="*/ 8043120 w 804276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10724388" h="3129407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0674731" y="0"/>
                  </a:lnTo>
                  <a:cubicBezTo>
                    <a:pt x="10702163" y="0"/>
                    <a:pt x="10724388" y="22225"/>
                    <a:pt x="10724388" y="49657"/>
                  </a:cubicBezTo>
                  <a:lnTo>
                    <a:pt x="10724388" y="3079750"/>
                  </a:lnTo>
                  <a:cubicBezTo>
                    <a:pt x="10724388" y="3107182"/>
                    <a:pt x="10702163" y="3129407"/>
                    <a:pt x="10674731" y="3129407"/>
                  </a:cubicBezTo>
                  <a:lnTo>
                    <a:pt x="49657" y="3129407"/>
                  </a:lnTo>
                  <a:cubicBezTo>
                    <a:pt x="22225" y="3129407"/>
                    <a:pt x="0" y="3107182"/>
                    <a:pt x="0" y="3079750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98" name="Group 16"/>
          <p:cNvGrpSpPr/>
          <p:nvPr/>
        </p:nvGrpSpPr>
        <p:grpSpPr>
          <a:xfrm>
            <a:off x="9500400" y="2258640"/>
            <a:ext cx="743760" cy="743760"/>
            <a:chOff x="9500400" y="2258640"/>
            <a:chExt cx="743760" cy="743760"/>
          </a:xfrm>
        </p:grpSpPr>
        <p:sp>
          <p:nvSpPr>
            <p:cNvPr id="99" name="Freeform 17"/>
            <p:cNvSpPr/>
            <p:nvPr/>
          </p:nvSpPr>
          <p:spPr>
            <a:xfrm>
              <a:off x="9500400" y="2258640"/>
              <a:ext cx="743760" cy="743760"/>
            </a:xfrm>
            <a:custGeom>
              <a:avLst/>
              <a:gdLst>
                <a:gd name="textAreaLeft" fmla="*/ 0 w 743760"/>
                <a:gd name="textAreaRight" fmla="*/ 744120 w 743760"/>
                <a:gd name="textAreaTop" fmla="*/ 0 h 743760"/>
                <a:gd name="textAreaBottom" fmla="*/ 744120 h 743760"/>
              </a:gdLst>
              <a:ahLst/>
              <a:rect l="textAreaLeft" t="textAreaTop" r="textAreaRight" b="textAreaBottom"/>
              <a:pathLst>
                <a:path w="992124" h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128" y="992124"/>
                    <a:pt x="496062" y="992124"/>
                  </a:cubicBezTo>
                  <a:cubicBezTo>
                    <a:pt x="221996" y="992124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00" name="Freeform 18"/>
          <p:cNvSpPr/>
          <p:nvPr/>
        </p:nvSpPr>
        <p:spPr>
          <a:xfrm>
            <a:off x="9705240" y="2463120"/>
            <a:ext cx="334440" cy="334440"/>
          </a:xfrm>
          <a:custGeom>
            <a:avLst/>
            <a:gdLst>
              <a:gd name="textAreaLeft" fmla="*/ 0 w 334440"/>
              <a:gd name="textAreaRight" fmla="*/ 334800 w 334440"/>
              <a:gd name="textAreaTop" fmla="*/ 0 h 334440"/>
              <a:gd name="textAreaBottom" fmla="*/ 334800 h 334440"/>
            </a:gdLst>
            <a:ahLst/>
            <a:rect l="textAreaLeft" t="textAreaTop" r="textAreaRight" b="textAreaBottom"/>
            <a:pathLst>
              <a:path w="334861" h="334861">
                <a:moveTo>
                  <a:pt x="0" y="0"/>
                </a:moveTo>
                <a:lnTo>
                  <a:pt x="334861" y="0"/>
                </a:lnTo>
                <a:lnTo>
                  <a:pt x="33486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01" name="TextBox 19"/>
          <p:cNvSpPr/>
          <p:nvPr/>
        </p:nvSpPr>
        <p:spPr>
          <a:xfrm>
            <a:off x="9500400" y="3200400"/>
            <a:ext cx="7547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Inventory Tracking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02" name="TextBox 20"/>
          <p:cNvSpPr/>
          <p:nvPr/>
        </p:nvSpPr>
        <p:spPr>
          <a:xfrm>
            <a:off x="9500400" y="3680280"/>
            <a:ext cx="75470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49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Real-time stock level monitoring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03" name="Group 21"/>
          <p:cNvGrpSpPr/>
          <p:nvPr/>
        </p:nvGrpSpPr>
        <p:grpSpPr>
          <a:xfrm>
            <a:off x="992160" y="4574520"/>
            <a:ext cx="8042760" cy="2346840"/>
            <a:chOff x="992160" y="4574520"/>
            <a:chExt cx="8042760" cy="2346840"/>
          </a:xfrm>
        </p:grpSpPr>
        <p:sp>
          <p:nvSpPr>
            <p:cNvPr id="104" name="Freeform 22"/>
            <p:cNvSpPr/>
            <p:nvPr/>
          </p:nvSpPr>
          <p:spPr>
            <a:xfrm>
              <a:off x="992160" y="4574520"/>
              <a:ext cx="8042760" cy="2346840"/>
            </a:xfrm>
            <a:custGeom>
              <a:avLst/>
              <a:gdLst>
                <a:gd name="textAreaLeft" fmla="*/ 0 w 8042760"/>
                <a:gd name="textAreaRight" fmla="*/ 8043120 w 804276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10724388" h="3129407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0674731" y="0"/>
                  </a:lnTo>
                  <a:cubicBezTo>
                    <a:pt x="10702163" y="0"/>
                    <a:pt x="10724388" y="22225"/>
                    <a:pt x="10724388" y="49657"/>
                  </a:cubicBezTo>
                  <a:lnTo>
                    <a:pt x="10724388" y="3079750"/>
                  </a:lnTo>
                  <a:cubicBezTo>
                    <a:pt x="10724388" y="3107182"/>
                    <a:pt x="10702163" y="3129407"/>
                    <a:pt x="10674731" y="3129407"/>
                  </a:cubicBezTo>
                  <a:lnTo>
                    <a:pt x="49657" y="3129407"/>
                  </a:lnTo>
                  <a:cubicBezTo>
                    <a:pt x="22225" y="3129407"/>
                    <a:pt x="0" y="3107182"/>
                    <a:pt x="0" y="3079750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05" name="Group 23"/>
          <p:cNvGrpSpPr/>
          <p:nvPr/>
        </p:nvGrpSpPr>
        <p:grpSpPr>
          <a:xfrm>
            <a:off x="1240200" y="4822560"/>
            <a:ext cx="743760" cy="743760"/>
            <a:chOff x="1240200" y="4822560"/>
            <a:chExt cx="743760" cy="743760"/>
          </a:xfrm>
        </p:grpSpPr>
        <p:sp>
          <p:nvSpPr>
            <p:cNvPr id="106" name="Freeform 24"/>
            <p:cNvSpPr/>
            <p:nvPr/>
          </p:nvSpPr>
          <p:spPr>
            <a:xfrm>
              <a:off x="1240200" y="4822560"/>
              <a:ext cx="743760" cy="743760"/>
            </a:xfrm>
            <a:custGeom>
              <a:avLst/>
              <a:gdLst>
                <a:gd name="textAreaLeft" fmla="*/ 0 w 743760"/>
                <a:gd name="textAreaRight" fmla="*/ 744120 w 743760"/>
                <a:gd name="textAreaTop" fmla="*/ 0 h 743760"/>
                <a:gd name="textAreaBottom" fmla="*/ 744120 h 743760"/>
              </a:gdLst>
              <a:ahLst/>
              <a:rect l="textAreaLeft" t="textAreaTop" r="textAreaRight" b="textAreaBottom"/>
              <a:pathLst>
                <a:path w="992124" h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128" y="992124"/>
                    <a:pt x="496062" y="992124"/>
                  </a:cubicBezTo>
                  <a:cubicBezTo>
                    <a:pt x="221996" y="992124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07" name="Freeform 25"/>
          <p:cNvSpPr/>
          <p:nvPr/>
        </p:nvSpPr>
        <p:spPr>
          <a:xfrm>
            <a:off x="1444680" y="5027040"/>
            <a:ext cx="334440" cy="334440"/>
          </a:xfrm>
          <a:custGeom>
            <a:avLst/>
            <a:gdLst>
              <a:gd name="textAreaLeft" fmla="*/ 0 w 334440"/>
              <a:gd name="textAreaRight" fmla="*/ 334800 w 334440"/>
              <a:gd name="textAreaTop" fmla="*/ 0 h 334440"/>
              <a:gd name="textAreaBottom" fmla="*/ 334800 h 334440"/>
            </a:gdLst>
            <a:ahLst/>
            <a:rect l="textAreaLeft" t="textAreaTop" r="textAreaRight" b="textAreaBottom"/>
            <a:pathLst>
              <a:path w="334861" h="334861">
                <a:moveTo>
                  <a:pt x="0" y="0"/>
                </a:moveTo>
                <a:lnTo>
                  <a:pt x="334861" y="0"/>
                </a:lnTo>
                <a:lnTo>
                  <a:pt x="33486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08" name="TextBox 26"/>
          <p:cNvSpPr/>
          <p:nvPr/>
        </p:nvSpPr>
        <p:spPr>
          <a:xfrm>
            <a:off x="1240200" y="5764680"/>
            <a:ext cx="7547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Auto Billing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09" name="TextBox 27"/>
          <p:cNvSpPr/>
          <p:nvPr/>
        </p:nvSpPr>
        <p:spPr>
          <a:xfrm>
            <a:off x="1240200" y="6244560"/>
            <a:ext cx="75470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49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Totals calculated instantly, error-free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10" name="Group 28"/>
          <p:cNvGrpSpPr/>
          <p:nvPr/>
        </p:nvGrpSpPr>
        <p:grpSpPr>
          <a:xfrm>
            <a:off x="9252360" y="4574520"/>
            <a:ext cx="8042760" cy="2346840"/>
            <a:chOff x="9252360" y="4574520"/>
            <a:chExt cx="8042760" cy="2346840"/>
          </a:xfrm>
        </p:grpSpPr>
        <p:sp>
          <p:nvSpPr>
            <p:cNvPr id="111" name="Freeform 29"/>
            <p:cNvSpPr/>
            <p:nvPr/>
          </p:nvSpPr>
          <p:spPr>
            <a:xfrm>
              <a:off x="9252360" y="4574520"/>
              <a:ext cx="8042760" cy="2346840"/>
            </a:xfrm>
            <a:custGeom>
              <a:avLst/>
              <a:gdLst>
                <a:gd name="textAreaLeft" fmla="*/ 0 w 8042760"/>
                <a:gd name="textAreaRight" fmla="*/ 8043120 w 804276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10724388" h="3129407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0674731" y="0"/>
                  </a:lnTo>
                  <a:cubicBezTo>
                    <a:pt x="10702163" y="0"/>
                    <a:pt x="10724388" y="22225"/>
                    <a:pt x="10724388" y="49657"/>
                  </a:cubicBezTo>
                  <a:lnTo>
                    <a:pt x="10724388" y="3079750"/>
                  </a:lnTo>
                  <a:cubicBezTo>
                    <a:pt x="10724388" y="3107182"/>
                    <a:pt x="10702163" y="3129407"/>
                    <a:pt x="10674731" y="3129407"/>
                  </a:cubicBezTo>
                  <a:lnTo>
                    <a:pt x="49657" y="3129407"/>
                  </a:lnTo>
                  <a:cubicBezTo>
                    <a:pt x="22225" y="3129407"/>
                    <a:pt x="0" y="3107182"/>
                    <a:pt x="0" y="3079750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12" name="Group 30"/>
          <p:cNvGrpSpPr/>
          <p:nvPr/>
        </p:nvGrpSpPr>
        <p:grpSpPr>
          <a:xfrm>
            <a:off x="9500400" y="4822560"/>
            <a:ext cx="743760" cy="743760"/>
            <a:chOff x="9500400" y="4822560"/>
            <a:chExt cx="743760" cy="743760"/>
          </a:xfrm>
        </p:grpSpPr>
        <p:sp>
          <p:nvSpPr>
            <p:cNvPr id="113" name="Freeform 31"/>
            <p:cNvSpPr/>
            <p:nvPr/>
          </p:nvSpPr>
          <p:spPr>
            <a:xfrm>
              <a:off x="9500400" y="4822560"/>
              <a:ext cx="743760" cy="743760"/>
            </a:xfrm>
            <a:custGeom>
              <a:avLst/>
              <a:gdLst>
                <a:gd name="textAreaLeft" fmla="*/ 0 w 743760"/>
                <a:gd name="textAreaRight" fmla="*/ 744120 w 743760"/>
                <a:gd name="textAreaTop" fmla="*/ 0 h 743760"/>
                <a:gd name="textAreaBottom" fmla="*/ 744120 h 743760"/>
              </a:gdLst>
              <a:ahLst/>
              <a:rect l="textAreaLeft" t="textAreaTop" r="textAreaRight" b="textAreaBottom"/>
              <a:pathLst>
                <a:path w="992124" h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128" y="992124"/>
                    <a:pt x="496062" y="992124"/>
                  </a:cubicBezTo>
                  <a:cubicBezTo>
                    <a:pt x="221996" y="992124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14" name="Freeform 32"/>
          <p:cNvSpPr/>
          <p:nvPr/>
        </p:nvSpPr>
        <p:spPr>
          <a:xfrm>
            <a:off x="9705240" y="5027040"/>
            <a:ext cx="334440" cy="334440"/>
          </a:xfrm>
          <a:custGeom>
            <a:avLst/>
            <a:gdLst>
              <a:gd name="textAreaLeft" fmla="*/ 0 w 334440"/>
              <a:gd name="textAreaRight" fmla="*/ 334800 w 334440"/>
              <a:gd name="textAreaTop" fmla="*/ 0 h 334440"/>
              <a:gd name="textAreaBottom" fmla="*/ 334800 h 334440"/>
            </a:gdLst>
            <a:ahLst/>
            <a:rect l="textAreaLeft" t="textAreaTop" r="textAreaRight" b="textAreaBottom"/>
            <a:pathLst>
              <a:path w="334861" h="334861">
                <a:moveTo>
                  <a:pt x="0" y="0"/>
                </a:moveTo>
                <a:lnTo>
                  <a:pt x="334861" y="0"/>
                </a:lnTo>
                <a:lnTo>
                  <a:pt x="33486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15" name="TextBox 33"/>
          <p:cNvSpPr/>
          <p:nvPr/>
        </p:nvSpPr>
        <p:spPr>
          <a:xfrm>
            <a:off x="9500400" y="5764680"/>
            <a:ext cx="7547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Product Search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16" name="TextBox 34"/>
          <p:cNvSpPr/>
          <p:nvPr/>
        </p:nvSpPr>
        <p:spPr>
          <a:xfrm>
            <a:off x="9500400" y="6244560"/>
            <a:ext cx="75470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49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Locate any item quickly by ID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17" name="Group 35"/>
          <p:cNvGrpSpPr/>
          <p:nvPr/>
        </p:nvGrpSpPr>
        <p:grpSpPr>
          <a:xfrm>
            <a:off x="992160" y="7138440"/>
            <a:ext cx="8042760" cy="2346840"/>
            <a:chOff x="992160" y="7138440"/>
            <a:chExt cx="8042760" cy="2346840"/>
          </a:xfrm>
        </p:grpSpPr>
        <p:sp>
          <p:nvSpPr>
            <p:cNvPr id="118" name="Freeform 36"/>
            <p:cNvSpPr/>
            <p:nvPr/>
          </p:nvSpPr>
          <p:spPr>
            <a:xfrm>
              <a:off x="992160" y="7138440"/>
              <a:ext cx="8042760" cy="2346840"/>
            </a:xfrm>
            <a:custGeom>
              <a:avLst/>
              <a:gdLst>
                <a:gd name="textAreaLeft" fmla="*/ 0 w 8042760"/>
                <a:gd name="textAreaRight" fmla="*/ 8043120 w 804276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10724388" h="3129407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0674731" y="0"/>
                  </a:lnTo>
                  <a:cubicBezTo>
                    <a:pt x="10702163" y="0"/>
                    <a:pt x="10724388" y="22225"/>
                    <a:pt x="10724388" y="49657"/>
                  </a:cubicBezTo>
                  <a:lnTo>
                    <a:pt x="10724388" y="3079750"/>
                  </a:lnTo>
                  <a:cubicBezTo>
                    <a:pt x="10724388" y="3107182"/>
                    <a:pt x="10702163" y="3129407"/>
                    <a:pt x="10674731" y="3129407"/>
                  </a:cubicBezTo>
                  <a:lnTo>
                    <a:pt x="49657" y="3129407"/>
                  </a:lnTo>
                  <a:cubicBezTo>
                    <a:pt x="22225" y="3129407"/>
                    <a:pt x="0" y="3107182"/>
                    <a:pt x="0" y="3079750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19" name="Group 37"/>
          <p:cNvGrpSpPr/>
          <p:nvPr/>
        </p:nvGrpSpPr>
        <p:grpSpPr>
          <a:xfrm>
            <a:off x="1240200" y="7386480"/>
            <a:ext cx="743760" cy="743760"/>
            <a:chOff x="1240200" y="7386480"/>
            <a:chExt cx="743760" cy="743760"/>
          </a:xfrm>
        </p:grpSpPr>
        <p:sp>
          <p:nvSpPr>
            <p:cNvPr id="120" name="Freeform 38"/>
            <p:cNvSpPr/>
            <p:nvPr/>
          </p:nvSpPr>
          <p:spPr>
            <a:xfrm>
              <a:off x="1240200" y="7386480"/>
              <a:ext cx="743760" cy="743760"/>
            </a:xfrm>
            <a:custGeom>
              <a:avLst/>
              <a:gdLst>
                <a:gd name="textAreaLeft" fmla="*/ 0 w 743760"/>
                <a:gd name="textAreaRight" fmla="*/ 744120 w 743760"/>
                <a:gd name="textAreaTop" fmla="*/ 0 h 743760"/>
                <a:gd name="textAreaBottom" fmla="*/ 744120 h 743760"/>
              </a:gdLst>
              <a:ahLst/>
              <a:rect l="textAreaLeft" t="textAreaTop" r="textAreaRight" b="textAreaBottom"/>
              <a:pathLst>
                <a:path w="992124" h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128" y="992124"/>
                    <a:pt x="496062" y="992124"/>
                  </a:cubicBezTo>
                  <a:cubicBezTo>
                    <a:pt x="221996" y="992124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21" name="Freeform 39"/>
          <p:cNvSpPr/>
          <p:nvPr/>
        </p:nvSpPr>
        <p:spPr>
          <a:xfrm>
            <a:off x="1444680" y="7590960"/>
            <a:ext cx="334440" cy="334440"/>
          </a:xfrm>
          <a:custGeom>
            <a:avLst/>
            <a:gdLst>
              <a:gd name="textAreaLeft" fmla="*/ 0 w 334440"/>
              <a:gd name="textAreaRight" fmla="*/ 334800 w 334440"/>
              <a:gd name="textAreaTop" fmla="*/ 0 h 334440"/>
              <a:gd name="textAreaBottom" fmla="*/ 334800 h 334440"/>
            </a:gdLst>
            <a:ahLst/>
            <a:rect l="textAreaLeft" t="textAreaTop" r="textAreaRight" b="textAreaBottom"/>
            <a:pathLst>
              <a:path w="334861" h="334861">
                <a:moveTo>
                  <a:pt x="0" y="0"/>
                </a:moveTo>
                <a:lnTo>
                  <a:pt x="334861" y="0"/>
                </a:lnTo>
                <a:lnTo>
                  <a:pt x="33486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22" name="TextBox 40"/>
          <p:cNvSpPr/>
          <p:nvPr/>
        </p:nvSpPr>
        <p:spPr>
          <a:xfrm>
            <a:off x="1240200" y="8328600"/>
            <a:ext cx="7547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Data Persistence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23" name="TextBox 41"/>
          <p:cNvSpPr/>
          <p:nvPr/>
        </p:nvSpPr>
        <p:spPr>
          <a:xfrm>
            <a:off x="1240200" y="8808480"/>
            <a:ext cx="75470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49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Product data saved to files reliably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24" name="Group 42"/>
          <p:cNvGrpSpPr/>
          <p:nvPr/>
        </p:nvGrpSpPr>
        <p:grpSpPr>
          <a:xfrm>
            <a:off x="9252360" y="7138440"/>
            <a:ext cx="8042760" cy="2346840"/>
            <a:chOff x="9252360" y="7138440"/>
            <a:chExt cx="8042760" cy="2346840"/>
          </a:xfrm>
        </p:grpSpPr>
        <p:sp>
          <p:nvSpPr>
            <p:cNvPr id="125" name="Freeform 43"/>
            <p:cNvSpPr/>
            <p:nvPr/>
          </p:nvSpPr>
          <p:spPr>
            <a:xfrm>
              <a:off x="9252360" y="7138440"/>
              <a:ext cx="8042760" cy="2346840"/>
            </a:xfrm>
            <a:custGeom>
              <a:avLst/>
              <a:gdLst>
                <a:gd name="textAreaLeft" fmla="*/ 0 w 8042760"/>
                <a:gd name="textAreaRight" fmla="*/ 8043120 w 804276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10724388" h="3129407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0674731" y="0"/>
                  </a:lnTo>
                  <a:cubicBezTo>
                    <a:pt x="10702163" y="0"/>
                    <a:pt x="10724388" y="22225"/>
                    <a:pt x="10724388" y="49657"/>
                  </a:cubicBezTo>
                  <a:lnTo>
                    <a:pt x="10724388" y="3079750"/>
                  </a:lnTo>
                  <a:cubicBezTo>
                    <a:pt x="10724388" y="3107182"/>
                    <a:pt x="10702163" y="3129407"/>
                    <a:pt x="10674731" y="3129407"/>
                  </a:cubicBezTo>
                  <a:lnTo>
                    <a:pt x="49657" y="3129407"/>
                  </a:lnTo>
                  <a:cubicBezTo>
                    <a:pt x="22225" y="3129407"/>
                    <a:pt x="0" y="3107182"/>
                    <a:pt x="0" y="3079750"/>
                  </a:cubicBezTo>
                  <a:close/>
                </a:path>
              </a:pathLst>
            </a:custGeom>
            <a:solidFill>
              <a:srgbClr val="f9f7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26" name="Group 44"/>
          <p:cNvGrpSpPr/>
          <p:nvPr/>
        </p:nvGrpSpPr>
        <p:grpSpPr>
          <a:xfrm>
            <a:off x="9500400" y="7386480"/>
            <a:ext cx="743760" cy="743760"/>
            <a:chOff x="9500400" y="7386480"/>
            <a:chExt cx="743760" cy="743760"/>
          </a:xfrm>
        </p:grpSpPr>
        <p:sp>
          <p:nvSpPr>
            <p:cNvPr id="127" name="Freeform 45"/>
            <p:cNvSpPr/>
            <p:nvPr/>
          </p:nvSpPr>
          <p:spPr>
            <a:xfrm>
              <a:off x="9500400" y="7386480"/>
              <a:ext cx="743760" cy="743760"/>
            </a:xfrm>
            <a:custGeom>
              <a:avLst/>
              <a:gdLst>
                <a:gd name="textAreaLeft" fmla="*/ 0 w 743760"/>
                <a:gd name="textAreaRight" fmla="*/ 744120 w 743760"/>
                <a:gd name="textAreaTop" fmla="*/ 0 h 743760"/>
                <a:gd name="textAreaBottom" fmla="*/ 744120 h 743760"/>
              </a:gdLst>
              <a:ahLst/>
              <a:rect l="textAreaLeft" t="textAreaTop" r="textAreaRight" b="textAreaBottom"/>
              <a:pathLst>
                <a:path w="992124" h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128" y="992124"/>
                    <a:pt x="496062" y="992124"/>
                  </a:cubicBezTo>
                  <a:cubicBezTo>
                    <a:pt x="221996" y="992124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28" name="Freeform 46"/>
          <p:cNvSpPr/>
          <p:nvPr/>
        </p:nvSpPr>
        <p:spPr>
          <a:xfrm>
            <a:off x="9705240" y="7590960"/>
            <a:ext cx="334440" cy="334440"/>
          </a:xfrm>
          <a:custGeom>
            <a:avLst/>
            <a:gdLst>
              <a:gd name="textAreaLeft" fmla="*/ 0 w 334440"/>
              <a:gd name="textAreaRight" fmla="*/ 334800 w 334440"/>
              <a:gd name="textAreaTop" fmla="*/ 0 h 334440"/>
              <a:gd name="textAreaBottom" fmla="*/ 334800 h 334440"/>
            </a:gdLst>
            <a:ahLst/>
            <a:rect l="textAreaLeft" t="textAreaTop" r="textAreaRight" b="textAreaBottom"/>
            <a:pathLst>
              <a:path w="334861" h="334861">
                <a:moveTo>
                  <a:pt x="0" y="0"/>
                </a:moveTo>
                <a:lnTo>
                  <a:pt x="334861" y="0"/>
                </a:lnTo>
                <a:lnTo>
                  <a:pt x="33486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29" name="TextBox 47"/>
          <p:cNvSpPr/>
          <p:nvPr/>
        </p:nvSpPr>
        <p:spPr>
          <a:xfrm>
            <a:off x="9500400" y="8328600"/>
            <a:ext cx="7547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504c49"/>
                </a:solidFill>
                <a:uFillTx/>
                <a:latin typeface="arial"/>
                <a:ea typeface="arial"/>
              </a:rPr>
              <a:t>Menu-Driven UI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30" name="TextBox 48"/>
          <p:cNvSpPr/>
          <p:nvPr/>
        </p:nvSpPr>
        <p:spPr>
          <a:xfrm>
            <a:off x="9500400" y="8808480"/>
            <a:ext cx="75470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49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Simple, intuitive navigation for all users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132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33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134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35" name="TextBox 6"/>
          <p:cNvSpPr/>
          <p:nvPr/>
        </p:nvSpPr>
        <p:spPr>
          <a:xfrm>
            <a:off x="992160" y="732240"/>
            <a:ext cx="16303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14"/>
              </a:lnSpc>
            </a:pPr>
            <a:r>
              <a:rPr b="0" lang="en-US" sz="49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Code Highlights</a:t>
            </a:r>
            <a:endParaRPr b="0" lang="en-US" sz="4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992160" y="1961280"/>
            <a:ext cx="17217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Core C programming concepts brought to life in a practical retail application.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37" name="TextBox 8"/>
          <p:cNvSpPr/>
          <p:nvPr/>
        </p:nvSpPr>
        <p:spPr>
          <a:xfrm>
            <a:off x="992160" y="2859120"/>
            <a:ext cx="7843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Product Structure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38" name="Group 9"/>
          <p:cNvGrpSpPr/>
          <p:nvPr/>
        </p:nvGrpSpPr>
        <p:grpSpPr>
          <a:xfrm>
            <a:off x="992160" y="3525840"/>
            <a:ext cx="7843320" cy="2795760"/>
            <a:chOff x="992160" y="3525840"/>
            <a:chExt cx="7843320" cy="2795760"/>
          </a:xfrm>
        </p:grpSpPr>
        <p:sp>
          <p:nvSpPr>
            <p:cNvPr id="139" name="Freeform 10"/>
            <p:cNvSpPr/>
            <p:nvPr/>
          </p:nvSpPr>
          <p:spPr>
            <a:xfrm>
              <a:off x="992160" y="3525840"/>
              <a:ext cx="7843320" cy="2795760"/>
            </a:xfrm>
            <a:custGeom>
              <a:avLst/>
              <a:gdLst>
                <a:gd name="textAreaLeft" fmla="*/ 0 w 7843320"/>
                <a:gd name="textAreaRight" fmla="*/ 7843680 w 7843320"/>
                <a:gd name="textAreaTop" fmla="*/ 0 h 2795760"/>
                <a:gd name="textAreaBottom" fmla="*/ 2796120 h 2795760"/>
              </a:gdLst>
              <a:ahLst/>
              <a:rect l="textAreaLeft" t="textAreaTop" r="textAreaRight" b="textAreaBottom"/>
              <a:pathLst>
                <a:path w="10458323" h="3728212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07777" y="0"/>
                  </a:lnTo>
                  <a:cubicBezTo>
                    <a:pt x="10435717" y="0"/>
                    <a:pt x="10458323" y="22606"/>
                    <a:pt x="10458323" y="50546"/>
                  </a:cubicBezTo>
                  <a:lnTo>
                    <a:pt x="10458323" y="3677666"/>
                  </a:lnTo>
                  <a:cubicBezTo>
                    <a:pt x="10458323" y="3705606"/>
                    <a:pt x="10435717" y="3728212"/>
                    <a:pt x="10407777" y="3728212"/>
                  </a:cubicBezTo>
                  <a:lnTo>
                    <a:pt x="50546" y="3728212"/>
                  </a:lnTo>
                  <a:cubicBezTo>
                    <a:pt x="22606" y="3728212"/>
                    <a:pt x="0" y="3705606"/>
                    <a:pt x="0" y="3677666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40" name="Group 11"/>
          <p:cNvGrpSpPr/>
          <p:nvPr/>
        </p:nvGrpSpPr>
        <p:grpSpPr>
          <a:xfrm>
            <a:off x="979560" y="3525840"/>
            <a:ext cx="7868160" cy="2795760"/>
            <a:chOff x="979560" y="3525840"/>
            <a:chExt cx="7868160" cy="2795760"/>
          </a:xfrm>
        </p:grpSpPr>
        <p:sp>
          <p:nvSpPr>
            <p:cNvPr id="141" name="Freeform 12"/>
            <p:cNvSpPr/>
            <p:nvPr/>
          </p:nvSpPr>
          <p:spPr>
            <a:xfrm>
              <a:off x="979560" y="3525840"/>
              <a:ext cx="7868160" cy="2795760"/>
            </a:xfrm>
            <a:custGeom>
              <a:avLst/>
              <a:gdLst>
                <a:gd name="textAreaLeft" fmla="*/ 0 w 7868160"/>
                <a:gd name="textAreaRight" fmla="*/ 7868520 w 7868160"/>
                <a:gd name="textAreaTop" fmla="*/ 0 h 2795760"/>
                <a:gd name="textAreaBottom" fmla="*/ 2796120 h 2795760"/>
              </a:gdLst>
              <a:ahLst/>
              <a:rect l="textAreaLeft" t="textAreaTop" r="textAreaRight" b="textAreaBottom"/>
              <a:pathLst>
                <a:path w="10491597" h="3728212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41051" y="0"/>
                  </a:lnTo>
                  <a:cubicBezTo>
                    <a:pt x="10468991" y="0"/>
                    <a:pt x="10491597" y="22606"/>
                    <a:pt x="10491597" y="50546"/>
                  </a:cubicBezTo>
                  <a:lnTo>
                    <a:pt x="10491597" y="3677666"/>
                  </a:lnTo>
                  <a:cubicBezTo>
                    <a:pt x="10491597" y="3705606"/>
                    <a:pt x="10468991" y="3728212"/>
                    <a:pt x="10441051" y="3728212"/>
                  </a:cubicBezTo>
                  <a:lnTo>
                    <a:pt x="50546" y="3728212"/>
                  </a:lnTo>
                  <a:cubicBezTo>
                    <a:pt x="22606" y="3728212"/>
                    <a:pt x="0" y="3705606"/>
                    <a:pt x="0" y="3677666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42" name="TextBox 13"/>
          <p:cNvSpPr/>
          <p:nvPr/>
        </p:nvSpPr>
        <p:spPr>
          <a:xfrm>
            <a:off x="1295280" y="3683160"/>
            <a:ext cx="7237440" cy="21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struct Product {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  </a:t>
            </a: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int id;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  </a:t>
            </a: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char name[50];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  </a:t>
            </a: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float price;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  </a:t>
            </a: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int qty;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};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43" name="TextBox 14"/>
          <p:cNvSpPr/>
          <p:nvPr/>
        </p:nvSpPr>
        <p:spPr>
          <a:xfrm>
            <a:off x="992160" y="6555960"/>
            <a:ext cx="7843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Duplicate ID Check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44" name="Group 15"/>
          <p:cNvGrpSpPr/>
          <p:nvPr/>
        </p:nvGrpSpPr>
        <p:grpSpPr>
          <a:xfrm>
            <a:off x="992160" y="7222680"/>
            <a:ext cx="7843320" cy="2032200"/>
            <a:chOff x="992160" y="7222680"/>
            <a:chExt cx="7843320" cy="2032200"/>
          </a:xfrm>
        </p:grpSpPr>
        <p:sp>
          <p:nvSpPr>
            <p:cNvPr id="145" name="Freeform 16"/>
            <p:cNvSpPr/>
            <p:nvPr/>
          </p:nvSpPr>
          <p:spPr>
            <a:xfrm>
              <a:off x="992160" y="7222680"/>
              <a:ext cx="7843320" cy="2032200"/>
            </a:xfrm>
            <a:custGeom>
              <a:avLst/>
              <a:gdLst>
                <a:gd name="textAreaLeft" fmla="*/ 0 w 7843320"/>
                <a:gd name="textAreaRight" fmla="*/ 7843680 w 7843320"/>
                <a:gd name="textAreaTop" fmla="*/ 0 h 2032200"/>
                <a:gd name="textAreaBottom" fmla="*/ 2032560 h 2032200"/>
              </a:gdLst>
              <a:ahLst/>
              <a:rect l="textAreaLeft" t="textAreaTop" r="textAreaRight" b="textAreaBottom"/>
              <a:pathLst>
                <a:path w="10458323" h="2709926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07777" y="0"/>
                  </a:lnTo>
                  <a:cubicBezTo>
                    <a:pt x="10435717" y="0"/>
                    <a:pt x="10458323" y="22606"/>
                    <a:pt x="10458323" y="50546"/>
                  </a:cubicBezTo>
                  <a:lnTo>
                    <a:pt x="10458323" y="2659380"/>
                  </a:lnTo>
                  <a:cubicBezTo>
                    <a:pt x="10458323" y="2687320"/>
                    <a:pt x="10435717" y="2709926"/>
                    <a:pt x="10407777" y="2709926"/>
                  </a:cubicBezTo>
                  <a:lnTo>
                    <a:pt x="50546" y="2709926"/>
                  </a:lnTo>
                  <a:cubicBezTo>
                    <a:pt x="22606" y="2709926"/>
                    <a:pt x="0" y="2687320"/>
                    <a:pt x="0" y="2659380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46" name="Group 17"/>
          <p:cNvGrpSpPr/>
          <p:nvPr/>
        </p:nvGrpSpPr>
        <p:grpSpPr>
          <a:xfrm>
            <a:off x="979560" y="7222680"/>
            <a:ext cx="7868160" cy="2032200"/>
            <a:chOff x="979560" y="7222680"/>
            <a:chExt cx="7868160" cy="2032200"/>
          </a:xfrm>
        </p:grpSpPr>
        <p:sp>
          <p:nvSpPr>
            <p:cNvPr id="147" name="Freeform 18"/>
            <p:cNvSpPr/>
            <p:nvPr/>
          </p:nvSpPr>
          <p:spPr>
            <a:xfrm>
              <a:off x="979560" y="7222680"/>
              <a:ext cx="7868160" cy="2032200"/>
            </a:xfrm>
            <a:custGeom>
              <a:avLst/>
              <a:gdLst>
                <a:gd name="textAreaLeft" fmla="*/ 0 w 7868160"/>
                <a:gd name="textAreaRight" fmla="*/ 7868520 w 7868160"/>
                <a:gd name="textAreaTop" fmla="*/ 0 h 2032200"/>
                <a:gd name="textAreaBottom" fmla="*/ 2032560 h 2032200"/>
              </a:gdLst>
              <a:ahLst/>
              <a:rect l="textAreaLeft" t="textAreaTop" r="textAreaRight" b="textAreaBottom"/>
              <a:pathLst>
                <a:path w="10491597" h="2709926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41051" y="0"/>
                  </a:lnTo>
                  <a:cubicBezTo>
                    <a:pt x="10468991" y="0"/>
                    <a:pt x="10491597" y="22606"/>
                    <a:pt x="10491597" y="50546"/>
                  </a:cubicBezTo>
                  <a:lnTo>
                    <a:pt x="10491597" y="2659380"/>
                  </a:lnTo>
                  <a:cubicBezTo>
                    <a:pt x="10491597" y="2687320"/>
                    <a:pt x="10468991" y="2709926"/>
                    <a:pt x="10441051" y="2709926"/>
                  </a:cubicBezTo>
                  <a:lnTo>
                    <a:pt x="50546" y="2709926"/>
                  </a:lnTo>
                  <a:cubicBezTo>
                    <a:pt x="22606" y="2709926"/>
                    <a:pt x="0" y="2687320"/>
                    <a:pt x="0" y="2659380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48" name="TextBox 19"/>
          <p:cNvSpPr/>
          <p:nvPr/>
        </p:nvSpPr>
        <p:spPr>
          <a:xfrm>
            <a:off x="1295280" y="7379640"/>
            <a:ext cx="723744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if (id == products[i].id) {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  </a:t>
            </a: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printf("ID exists!");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  </a:t>
            </a: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return 0;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d73a49"/>
                </a:solidFill>
                <a:uFillTx/>
                <a:latin typeface="Consolas"/>
                <a:ea typeface="Consolas"/>
              </a:rPr>
              <a:t>}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49" name="TextBox 20"/>
          <p:cNvSpPr/>
          <p:nvPr/>
        </p:nvSpPr>
        <p:spPr>
          <a:xfrm>
            <a:off x="9461520" y="2859120"/>
            <a:ext cx="7843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Billing Logic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50" name="Group 21"/>
          <p:cNvGrpSpPr/>
          <p:nvPr/>
        </p:nvGrpSpPr>
        <p:grpSpPr>
          <a:xfrm>
            <a:off x="9461520" y="3525840"/>
            <a:ext cx="7843320" cy="1268280"/>
            <a:chOff x="9461520" y="3525840"/>
            <a:chExt cx="7843320" cy="1268280"/>
          </a:xfrm>
        </p:grpSpPr>
        <p:sp>
          <p:nvSpPr>
            <p:cNvPr id="151" name="Freeform 22"/>
            <p:cNvSpPr/>
            <p:nvPr/>
          </p:nvSpPr>
          <p:spPr>
            <a:xfrm>
              <a:off x="9461520" y="3525840"/>
              <a:ext cx="7843320" cy="1268280"/>
            </a:xfrm>
            <a:custGeom>
              <a:avLst/>
              <a:gdLst>
                <a:gd name="textAreaLeft" fmla="*/ 0 w 7843320"/>
                <a:gd name="textAreaRight" fmla="*/ 7843680 w 7843320"/>
                <a:gd name="textAreaTop" fmla="*/ 0 h 1268280"/>
                <a:gd name="textAreaBottom" fmla="*/ 1268640 h 1268280"/>
              </a:gdLst>
              <a:ahLst/>
              <a:rect l="textAreaLeft" t="textAreaTop" r="textAreaRight" b="textAreaBottom"/>
              <a:pathLst>
                <a:path w="10458323" h="1691513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07777" y="0"/>
                  </a:lnTo>
                  <a:cubicBezTo>
                    <a:pt x="10435717" y="0"/>
                    <a:pt x="10458323" y="22606"/>
                    <a:pt x="10458323" y="50546"/>
                  </a:cubicBezTo>
                  <a:lnTo>
                    <a:pt x="10458323" y="1640967"/>
                  </a:lnTo>
                  <a:cubicBezTo>
                    <a:pt x="10458323" y="1668907"/>
                    <a:pt x="10435717" y="1691513"/>
                    <a:pt x="10407777" y="1691513"/>
                  </a:cubicBezTo>
                  <a:lnTo>
                    <a:pt x="50546" y="1691513"/>
                  </a:lnTo>
                  <a:cubicBezTo>
                    <a:pt x="22606" y="1691513"/>
                    <a:pt x="0" y="1668907"/>
                    <a:pt x="0" y="1640967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52" name="Group 23"/>
          <p:cNvGrpSpPr/>
          <p:nvPr/>
        </p:nvGrpSpPr>
        <p:grpSpPr>
          <a:xfrm>
            <a:off x="9448920" y="3525840"/>
            <a:ext cx="7868160" cy="1268280"/>
            <a:chOff x="9448920" y="3525840"/>
            <a:chExt cx="7868160" cy="1268280"/>
          </a:xfrm>
        </p:grpSpPr>
        <p:sp>
          <p:nvSpPr>
            <p:cNvPr id="153" name="Freeform 24"/>
            <p:cNvSpPr/>
            <p:nvPr/>
          </p:nvSpPr>
          <p:spPr>
            <a:xfrm>
              <a:off x="9448920" y="3525840"/>
              <a:ext cx="7868160" cy="1268280"/>
            </a:xfrm>
            <a:custGeom>
              <a:avLst/>
              <a:gdLst>
                <a:gd name="textAreaLeft" fmla="*/ 0 w 7868160"/>
                <a:gd name="textAreaRight" fmla="*/ 7868520 w 7868160"/>
                <a:gd name="textAreaTop" fmla="*/ 0 h 1268280"/>
                <a:gd name="textAreaBottom" fmla="*/ 1268640 h 1268280"/>
              </a:gdLst>
              <a:ahLst/>
              <a:rect l="textAreaLeft" t="textAreaTop" r="textAreaRight" b="textAreaBottom"/>
              <a:pathLst>
                <a:path w="10491597" h="1691513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41051" y="0"/>
                  </a:lnTo>
                  <a:cubicBezTo>
                    <a:pt x="10468991" y="0"/>
                    <a:pt x="10491597" y="22606"/>
                    <a:pt x="10491597" y="50546"/>
                  </a:cubicBezTo>
                  <a:lnTo>
                    <a:pt x="10491597" y="1640967"/>
                  </a:lnTo>
                  <a:cubicBezTo>
                    <a:pt x="10491597" y="1668907"/>
                    <a:pt x="10468991" y="1691513"/>
                    <a:pt x="10441051" y="1691513"/>
                  </a:cubicBezTo>
                  <a:lnTo>
                    <a:pt x="50546" y="1691513"/>
                  </a:lnTo>
                  <a:cubicBezTo>
                    <a:pt x="22606" y="1691513"/>
                    <a:pt x="0" y="1668907"/>
                    <a:pt x="0" y="1640967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54" name="TextBox 25"/>
          <p:cNvSpPr/>
          <p:nvPr/>
        </p:nvSpPr>
        <p:spPr>
          <a:xfrm>
            <a:off x="9764640" y="3683160"/>
            <a:ext cx="723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Consolas"/>
                <a:ea typeface="Consolas"/>
              </a:rPr>
              <a:t>total += price * qty;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Consolas"/>
                <a:ea typeface="Consolas"/>
              </a:rPr>
              <a:t>printf("Total: %.2f", total);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55" name="TextBox 26"/>
          <p:cNvSpPr/>
          <p:nvPr/>
        </p:nvSpPr>
        <p:spPr>
          <a:xfrm>
            <a:off x="9461520" y="5028480"/>
            <a:ext cx="7843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6"/>
              </a:lnSpc>
            </a:pPr>
            <a:r>
              <a:rPr b="0" lang="en-US" sz="24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File Handling</a:t>
            </a:r>
            <a:endParaRPr b="0" lang="en-US" sz="24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56" name="Group 27"/>
          <p:cNvGrpSpPr/>
          <p:nvPr/>
        </p:nvGrpSpPr>
        <p:grpSpPr>
          <a:xfrm>
            <a:off x="9461520" y="5695200"/>
            <a:ext cx="7843320" cy="1650240"/>
            <a:chOff x="9461520" y="5695200"/>
            <a:chExt cx="7843320" cy="1650240"/>
          </a:xfrm>
        </p:grpSpPr>
        <p:sp>
          <p:nvSpPr>
            <p:cNvPr id="157" name="Freeform 28"/>
            <p:cNvSpPr/>
            <p:nvPr/>
          </p:nvSpPr>
          <p:spPr>
            <a:xfrm>
              <a:off x="9461520" y="5695200"/>
              <a:ext cx="7843320" cy="1650240"/>
            </a:xfrm>
            <a:custGeom>
              <a:avLst/>
              <a:gdLst>
                <a:gd name="textAreaLeft" fmla="*/ 0 w 7843320"/>
                <a:gd name="textAreaRight" fmla="*/ 7843680 w 7843320"/>
                <a:gd name="textAreaTop" fmla="*/ 0 h 1650240"/>
                <a:gd name="textAreaBottom" fmla="*/ 1650600 h 1650240"/>
              </a:gdLst>
              <a:ahLst/>
              <a:rect l="textAreaLeft" t="textAreaTop" r="textAreaRight" b="textAreaBottom"/>
              <a:pathLst>
                <a:path w="10458323" h="2200656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07777" y="0"/>
                  </a:lnTo>
                  <a:cubicBezTo>
                    <a:pt x="10435717" y="0"/>
                    <a:pt x="10458323" y="22606"/>
                    <a:pt x="10458323" y="50546"/>
                  </a:cubicBezTo>
                  <a:lnTo>
                    <a:pt x="10458323" y="2150110"/>
                  </a:lnTo>
                  <a:cubicBezTo>
                    <a:pt x="10458323" y="2178050"/>
                    <a:pt x="10435717" y="2200656"/>
                    <a:pt x="10407777" y="2200656"/>
                  </a:cubicBezTo>
                  <a:lnTo>
                    <a:pt x="50546" y="2200656"/>
                  </a:lnTo>
                  <a:cubicBezTo>
                    <a:pt x="22606" y="2200656"/>
                    <a:pt x="0" y="2178050"/>
                    <a:pt x="0" y="2150110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58" name="Group 29"/>
          <p:cNvGrpSpPr/>
          <p:nvPr/>
        </p:nvGrpSpPr>
        <p:grpSpPr>
          <a:xfrm>
            <a:off x="9448920" y="5695200"/>
            <a:ext cx="7868160" cy="1650240"/>
            <a:chOff x="9448920" y="5695200"/>
            <a:chExt cx="7868160" cy="1650240"/>
          </a:xfrm>
        </p:grpSpPr>
        <p:sp>
          <p:nvSpPr>
            <p:cNvPr id="159" name="Freeform 30"/>
            <p:cNvSpPr/>
            <p:nvPr/>
          </p:nvSpPr>
          <p:spPr>
            <a:xfrm>
              <a:off x="9448920" y="5695200"/>
              <a:ext cx="7868160" cy="1650240"/>
            </a:xfrm>
            <a:custGeom>
              <a:avLst/>
              <a:gdLst>
                <a:gd name="textAreaLeft" fmla="*/ 0 w 7868160"/>
                <a:gd name="textAreaRight" fmla="*/ 7868520 w 7868160"/>
                <a:gd name="textAreaTop" fmla="*/ 0 h 1650240"/>
                <a:gd name="textAreaBottom" fmla="*/ 1650600 h 1650240"/>
              </a:gdLst>
              <a:ahLst/>
              <a:rect l="textAreaLeft" t="textAreaTop" r="textAreaRight" b="textAreaBottom"/>
              <a:pathLst>
                <a:path w="10491597" h="2200656">
                  <a:moveTo>
                    <a:pt x="0" y="50546"/>
                  </a:moveTo>
                  <a:cubicBezTo>
                    <a:pt x="0" y="22606"/>
                    <a:pt x="22606" y="0"/>
                    <a:pt x="50546" y="0"/>
                  </a:cubicBezTo>
                  <a:lnTo>
                    <a:pt x="10441051" y="0"/>
                  </a:lnTo>
                  <a:cubicBezTo>
                    <a:pt x="10468991" y="0"/>
                    <a:pt x="10491597" y="22606"/>
                    <a:pt x="10491597" y="50546"/>
                  </a:cubicBezTo>
                  <a:lnTo>
                    <a:pt x="10491597" y="2150110"/>
                  </a:lnTo>
                  <a:cubicBezTo>
                    <a:pt x="10491597" y="2178050"/>
                    <a:pt x="10468991" y="2200656"/>
                    <a:pt x="10441051" y="2200656"/>
                  </a:cubicBezTo>
                  <a:lnTo>
                    <a:pt x="50546" y="2200656"/>
                  </a:lnTo>
                  <a:cubicBezTo>
                    <a:pt x="22606" y="2200656"/>
                    <a:pt x="0" y="2178050"/>
                    <a:pt x="0" y="2150110"/>
                  </a:cubicBezTo>
                  <a:close/>
                </a:path>
              </a:pathLst>
            </a:custGeom>
            <a:solidFill>
              <a:srgbClr val="f2f2f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60" name="TextBox 31"/>
          <p:cNvSpPr/>
          <p:nvPr/>
        </p:nvSpPr>
        <p:spPr>
          <a:xfrm>
            <a:off x="9764640" y="5852160"/>
            <a:ext cx="723744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Consolas"/>
                <a:ea typeface="Consolas"/>
              </a:rPr>
              <a:t>FILE *f = fopen("data.dat","wb");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Consolas"/>
                <a:ea typeface="Consolas"/>
              </a:rPr>
              <a:t>fwrite(&amp;p, sizeof(p), 1, f);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  <a:p>
            <a:pPr defTabSz="914400">
              <a:lnSpc>
                <a:spcPts val="2871"/>
              </a:lnSpc>
            </a:pPr>
            <a:r>
              <a:rPr b="0" lang="en-US" sz="1900" strike="noStrike" u="none">
                <a:solidFill>
                  <a:srgbClr val="504c49"/>
                </a:solidFill>
                <a:uFillTx/>
                <a:latin typeface="Consolas"/>
                <a:ea typeface="Consolas"/>
              </a:rPr>
              <a:t>fclose(f);</a:t>
            </a:r>
            <a:endParaRPr b="0" lang="en-US" sz="19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 txBox="1"/>
          <p:nvPr/>
        </p:nvSpPr>
        <p:spPr>
          <a:xfrm>
            <a:off x="230040" y="679320"/>
            <a:ext cx="6770880" cy="1521000"/>
          </a:xfrm>
          <a:prstGeom prst="rect">
            <a:avLst/>
          </a:prstGeom>
          <a:noFill/>
          <a:ln w="2520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3500" strike="noStrike" u="none">
                <a:solidFill>
                  <a:srgbClr val="000000"/>
                </a:solidFill>
                <a:uFillTx/>
                <a:latin typeface="Noto Sans CJK SC"/>
              </a:rPr>
              <a:t>Sample Outputs</a:t>
            </a:r>
            <a:endParaRPr b="0" lang="en-US" sz="35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pic>
        <p:nvPicPr>
          <p:cNvPr id="162" name="" descr=""/>
          <p:cNvPicPr/>
          <p:nvPr/>
        </p:nvPicPr>
        <p:blipFill>
          <a:blip r:embed="rId1"/>
          <a:stretch/>
        </p:blipFill>
        <p:spPr>
          <a:xfrm>
            <a:off x="221040" y="1866960"/>
            <a:ext cx="6209640" cy="7906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63" name="" descr=""/>
          <p:cNvPicPr/>
          <p:nvPr/>
        </p:nvPicPr>
        <p:blipFill>
          <a:blip r:embed="rId2"/>
          <a:stretch/>
        </p:blipFill>
        <p:spPr>
          <a:xfrm>
            <a:off x="6422400" y="1920960"/>
            <a:ext cx="6561360" cy="782676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64" name="" descr=""/>
          <p:cNvPicPr/>
          <p:nvPr/>
        </p:nvPicPr>
        <p:blipFill>
          <a:blip r:embed="rId3"/>
          <a:stretch/>
        </p:blipFill>
        <p:spPr>
          <a:xfrm>
            <a:off x="12961800" y="1917000"/>
            <a:ext cx="6484680" cy="7888680"/>
          </a:xfrm>
          <a:prstGeom prst="rect">
            <a:avLst/>
          </a:prstGeom>
          <a:noFill/>
          <a:ln w="252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166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67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168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169" name="TextBox 6"/>
          <p:cNvSpPr/>
          <p:nvPr/>
        </p:nvSpPr>
        <p:spPr>
          <a:xfrm>
            <a:off x="992160" y="776160"/>
            <a:ext cx="163033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615"/>
              </a:lnSpc>
            </a:pPr>
            <a:r>
              <a:rPr b="0" lang="en-US" sz="45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Results &amp; Future Scope</a:t>
            </a:r>
            <a:endParaRPr b="0" lang="en-US" sz="45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0" name="TextBox 7"/>
          <p:cNvSpPr/>
          <p:nvPr/>
        </p:nvSpPr>
        <p:spPr>
          <a:xfrm>
            <a:off x="992160" y="1982880"/>
            <a:ext cx="78703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44"/>
              </a:lnSpc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✅</a:t>
            </a:r>
            <a:r>
              <a:rPr b="0" lang="en-US" sz="22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 </a:t>
            </a:r>
            <a:r>
              <a:rPr b="0" lang="en-US" sz="22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Achieved Results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1" name="Freeform 8"/>
          <p:cNvSpPr/>
          <p:nvPr/>
        </p:nvSpPr>
        <p:spPr>
          <a:xfrm>
            <a:off x="1078560" y="2612160"/>
            <a:ext cx="345240" cy="345240"/>
          </a:xfrm>
          <a:custGeom>
            <a:avLst/>
            <a:gdLst>
              <a:gd name="textAreaLeft" fmla="*/ 0 w 345240"/>
              <a:gd name="textAreaRight" fmla="*/ 345600 w 345240"/>
              <a:gd name="textAreaTop" fmla="*/ 0 h 345240"/>
              <a:gd name="textAreaBottom" fmla="*/ 345600 h 345240"/>
            </a:gdLst>
            <a:ahLst/>
            <a:rect l="textAreaLeft" t="textAreaTop" r="textAreaRight" b="textAreaBottom"/>
            <a:pathLst>
              <a:path w="345434" h="345434">
                <a:moveTo>
                  <a:pt x="0" y="0"/>
                </a:moveTo>
                <a:lnTo>
                  <a:pt x="345434" y="0"/>
                </a:lnTo>
                <a:lnTo>
                  <a:pt x="345434" y="345434"/>
                </a:lnTo>
                <a:lnTo>
                  <a:pt x="0" y="3454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2" name="TextBox 9"/>
          <p:cNvSpPr/>
          <p:nvPr/>
        </p:nvSpPr>
        <p:spPr>
          <a:xfrm>
            <a:off x="1740600" y="2553120"/>
            <a:ext cx="30693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Faster, error-free billing at checkout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3" name="Freeform 10"/>
          <p:cNvSpPr/>
          <p:nvPr/>
        </p:nvSpPr>
        <p:spPr>
          <a:xfrm>
            <a:off x="5130720" y="2612160"/>
            <a:ext cx="345240" cy="345240"/>
          </a:xfrm>
          <a:custGeom>
            <a:avLst/>
            <a:gdLst>
              <a:gd name="textAreaLeft" fmla="*/ 0 w 345240"/>
              <a:gd name="textAreaRight" fmla="*/ 345600 w 345240"/>
              <a:gd name="textAreaTop" fmla="*/ 0 h 345240"/>
              <a:gd name="textAreaBottom" fmla="*/ 345600 h 345240"/>
            </a:gdLst>
            <a:ahLst/>
            <a:rect l="textAreaLeft" t="textAreaTop" r="textAreaRight" b="textAreaBottom"/>
            <a:pathLst>
              <a:path w="345434" h="345434">
                <a:moveTo>
                  <a:pt x="0" y="0"/>
                </a:moveTo>
                <a:lnTo>
                  <a:pt x="345433" y="0"/>
                </a:lnTo>
                <a:lnTo>
                  <a:pt x="345433" y="345434"/>
                </a:lnTo>
                <a:lnTo>
                  <a:pt x="0" y="3454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4" name="TextBox 11"/>
          <p:cNvSpPr/>
          <p:nvPr/>
        </p:nvSpPr>
        <p:spPr>
          <a:xfrm>
            <a:off x="5793120" y="2553120"/>
            <a:ext cx="30697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Accurate, real-time inventory updates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5" name="Freeform 12"/>
          <p:cNvSpPr/>
          <p:nvPr/>
        </p:nvSpPr>
        <p:spPr>
          <a:xfrm>
            <a:off x="1078560" y="3688920"/>
            <a:ext cx="345240" cy="345240"/>
          </a:xfrm>
          <a:custGeom>
            <a:avLst/>
            <a:gdLst>
              <a:gd name="textAreaLeft" fmla="*/ 0 w 345240"/>
              <a:gd name="textAreaRight" fmla="*/ 345600 w 345240"/>
              <a:gd name="textAreaTop" fmla="*/ 0 h 345240"/>
              <a:gd name="textAreaBottom" fmla="*/ 345600 h 345240"/>
            </a:gdLst>
            <a:ahLst/>
            <a:rect l="textAreaLeft" t="textAreaTop" r="textAreaRight" b="textAreaBottom"/>
            <a:pathLst>
              <a:path w="345434" h="345434">
                <a:moveTo>
                  <a:pt x="0" y="0"/>
                </a:moveTo>
                <a:lnTo>
                  <a:pt x="345434" y="0"/>
                </a:lnTo>
                <a:lnTo>
                  <a:pt x="345434" y="345434"/>
                </a:lnTo>
                <a:lnTo>
                  <a:pt x="0" y="3454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6" name="TextBox 13"/>
          <p:cNvSpPr/>
          <p:nvPr/>
        </p:nvSpPr>
        <p:spPr>
          <a:xfrm>
            <a:off x="1740600" y="3629880"/>
            <a:ext cx="30693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Reliable file-based data storage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7" name="Freeform 14"/>
          <p:cNvSpPr/>
          <p:nvPr/>
        </p:nvSpPr>
        <p:spPr>
          <a:xfrm>
            <a:off x="5130720" y="3688920"/>
            <a:ext cx="345240" cy="345240"/>
          </a:xfrm>
          <a:custGeom>
            <a:avLst/>
            <a:gdLst>
              <a:gd name="textAreaLeft" fmla="*/ 0 w 345240"/>
              <a:gd name="textAreaRight" fmla="*/ 345600 w 345240"/>
              <a:gd name="textAreaTop" fmla="*/ 0 h 345240"/>
              <a:gd name="textAreaBottom" fmla="*/ 345600 h 345240"/>
            </a:gdLst>
            <a:ahLst/>
            <a:rect l="textAreaLeft" t="textAreaTop" r="textAreaRight" b="textAreaBottom"/>
            <a:pathLst>
              <a:path w="345434" h="345434">
                <a:moveTo>
                  <a:pt x="0" y="0"/>
                </a:moveTo>
                <a:lnTo>
                  <a:pt x="345433" y="0"/>
                </a:lnTo>
                <a:lnTo>
                  <a:pt x="345433" y="345434"/>
                </a:lnTo>
                <a:lnTo>
                  <a:pt x="0" y="3454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8" name="TextBox 15"/>
          <p:cNvSpPr/>
          <p:nvPr/>
        </p:nvSpPr>
        <p:spPr>
          <a:xfrm>
            <a:off x="5793120" y="3629880"/>
            <a:ext cx="30697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Improved overall operational efficiency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179" name="TextBox 16"/>
          <p:cNvSpPr/>
          <p:nvPr/>
        </p:nvSpPr>
        <p:spPr>
          <a:xfrm>
            <a:off x="9434520" y="1982880"/>
            <a:ext cx="78703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44"/>
              </a:lnSpc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🔭</a:t>
            </a:r>
            <a:r>
              <a:rPr b="0" lang="en-US" sz="22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 </a:t>
            </a:r>
            <a:r>
              <a:rPr b="0" lang="en-US" sz="22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Future Enhancements</a:t>
            </a:r>
            <a:endParaRPr b="0" lang="en-US" sz="22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80" name="Group 17"/>
          <p:cNvGrpSpPr/>
          <p:nvPr/>
        </p:nvGrpSpPr>
        <p:grpSpPr>
          <a:xfrm>
            <a:off x="13355640" y="2600640"/>
            <a:ext cx="28080" cy="6651360"/>
            <a:chOff x="13355640" y="2600640"/>
            <a:chExt cx="28080" cy="6651360"/>
          </a:xfrm>
        </p:grpSpPr>
        <p:sp>
          <p:nvSpPr>
            <p:cNvPr id="181" name="Freeform 18"/>
            <p:cNvSpPr/>
            <p:nvPr/>
          </p:nvSpPr>
          <p:spPr>
            <a:xfrm>
              <a:off x="13355640" y="2600640"/>
              <a:ext cx="28080" cy="66513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6651360"/>
                <a:gd name="textAreaBottom" fmla="*/ 6651720 h 6651360"/>
              </a:gdLst>
              <a:ahLst/>
              <a:rect l="textAreaLeft" t="textAreaTop" r="textAreaRight" b="textAreaBottom"/>
              <a:pathLst>
                <a:path w="38100" h="8869172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8850122"/>
                  </a:lnTo>
                  <a:cubicBezTo>
                    <a:pt x="38100" y="8860663"/>
                    <a:pt x="29591" y="8869172"/>
                    <a:pt x="19050" y="8869172"/>
                  </a:cubicBezTo>
                  <a:cubicBezTo>
                    <a:pt x="8509" y="8869172"/>
                    <a:pt x="0" y="8860663"/>
                    <a:pt x="0" y="8850122"/>
                  </a:cubicBezTo>
                  <a:close/>
                </a:path>
              </a:pathLst>
            </a:custGeom>
            <a:solidFill>
              <a:srgbClr val="d8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82" name="Group 19"/>
          <p:cNvGrpSpPr/>
          <p:nvPr/>
        </p:nvGrpSpPr>
        <p:grpSpPr>
          <a:xfrm>
            <a:off x="12937680" y="2845440"/>
            <a:ext cx="460440" cy="28080"/>
            <a:chOff x="12937680" y="2845440"/>
            <a:chExt cx="460440" cy="28080"/>
          </a:xfrm>
        </p:grpSpPr>
        <p:sp>
          <p:nvSpPr>
            <p:cNvPr id="183" name="Freeform 20"/>
            <p:cNvSpPr/>
            <p:nvPr/>
          </p:nvSpPr>
          <p:spPr>
            <a:xfrm>
              <a:off x="12937680" y="2845440"/>
              <a:ext cx="460440" cy="28080"/>
            </a:xfrm>
            <a:custGeom>
              <a:avLst/>
              <a:gdLst>
                <a:gd name="textAreaLeft" fmla="*/ 0 w 460440"/>
                <a:gd name="textAreaRight" fmla="*/ 460800 w 4604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1417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595122" y="0"/>
                  </a:lnTo>
                  <a:cubicBezTo>
                    <a:pt x="605663" y="0"/>
                    <a:pt x="614172" y="8509"/>
                    <a:pt x="614172" y="19050"/>
                  </a:cubicBezTo>
                  <a:cubicBezTo>
                    <a:pt x="614172" y="29591"/>
                    <a:pt x="605663" y="38100"/>
                    <a:pt x="59512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d8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84" name="Group 21"/>
          <p:cNvGrpSpPr/>
          <p:nvPr/>
        </p:nvGrpSpPr>
        <p:grpSpPr>
          <a:xfrm>
            <a:off x="13283640" y="2773440"/>
            <a:ext cx="172080" cy="172080"/>
            <a:chOff x="13283640" y="2773440"/>
            <a:chExt cx="172080" cy="172080"/>
          </a:xfrm>
        </p:grpSpPr>
        <p:sp>
          <p:nvSpPr>
            <p:cNvPr id="185" name="Freeform 22"/>
            <p:cNvSpPr/>
            <p:nvPr/>
          </p:nvSpPr>
          <p:spPr>
            <a:xfrm>
              <a:off x="13283640" y="2773440"/>
              <a:ext cx="172080" cy="172080"/>
            </a:xfrm>
            <a:custGeom>
              <a:avLst/>
              <a:gdLst>
                <a:gd name="textAreaLeft" fmla="*/ 0 w 172080"/>
                <a:gd name="textAreaRight" fmla="*/ 172440 w 172080"/>
                <a:gd name="textAreaTop" fmla="*/ 0 h 172080"/>
                <a:gd name="textAreaBottom" fmla="*/ 172440 h 172080"/>
              </a:gdLst>
              <a:ahLst/>
              <a:rect l="textAreaLeft" t="textAreaTop" r="textAreaRight" b="textAreaBottom"/>
              <a:pathLst>
                <a:path w="230124" h="230124">
                  <a:moveTo>
                    <a:pt x="0" y="115062"/>
                  </a:moveTo>
                  <a:cubicBezTo>
                    <a:pt x="0" y="51562"/>
                    <a:pt x="51562" y="0"/>
                    <a:pt x="115062" y="0"/>
                  </a:cubicBezTo>
                  <a:cubicBezTo>
                    <a:pt x="178562" y="0"/>
                    <a:pt x="230124" y="51562"/>
                    <a:pt x="230124" y="115062"/>
                  </a:cubicBezTo>
                  <a:cubicBezTo>
                    <a:pt x="230124" y="178562"/>
                    <a:pt x="178562" y="230124"/>
                    <a:pt x="115062" y="230124"/>
                  </a:cubicBezTo>
                  <a:cubicBezTo>
                    <a:pt x="51562" y="230124"/>
                    <a:pt x="0" y="178689"/>
                    <a:pt x="0" y="115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86" name="TextBox 23"/>
          <p:cNvSpPr/>
          <p:nvPr/>
        </p:nvSpPr>
        <p:spPr>
          <a:xfrm>
            <a:off x="9434520" y="2628000"/>
            <a:ext cx="301356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Barcode Scanner Integration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87" name="Group 24"/>
          <p:cNvGrpSpPr/>
          <p:nvPr/>
        </p:nvGrpSpPr>
        <p:grpSpPr>
          <a:xfrm>
            <a:off x="13341240" y="4141440"/>
            <a:ext cx="460440" cy="28080"/>
            <a:chOff x="13341240" y="4141440"/>
            <a:chExt cx="460440" cy="28080"/>
          </a:xfrm>
        </p:grpSpPr>
        <p:sp>
          <p:nvSpPr>
            <p:cNvPr id="188" name="Freeform 25"/>
            <p:cNvSpPr/>
            <p:nvPr/>
          </p:nvSpPr>
          <p:spPr>
            <a:xfrm>
              <a:off x="13341240" y="4141440"/>
              <a:ext cx="460440" cy="28080"/>
            </a:xfrm>
            <a:custGeom>
              <a:avLst/>
              <a:gdLst>
                <a:gd name="textAreaLeft" fmla="*/ 0 w 460440"/>
                <a:gd name="textAreaRight" fmla="*/ 460800 w 4604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1417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595122" y="0"/>
                  </a:lnTo>
                  <a:cubicBezTo>
                    <a:pt x="605663" y="0"/>
                    <a:pt x="614172" y="8509"/>
                    <a:pt x="614172" y="19050"/>
                  </a:cubicBezTo>
                  <a:cubicBezTo>
                    <a:pt x="614172" y="29591"/>
                    <a:pt x="605663" y="38100"/>
                    <a:pt x="59512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d8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89" name="Group 26"/>
          <p:cNvGrpSpPr/>
          <p:nvPr/>
        </p:nvGrpSpPr>
        <p:grpSpPr>
          <a:xfrm>
            <a:off x="13283640" y="4069440"/>
            <a:ext cx="172080" cy="172080"/>
            <a:chOff x="13283640" y="4069440"/>
            <a:chExt cx="172080" cy="172080"/>
          </a:xfrm>
        </p:grpSpPr>
        <p:sp>
          <p:nvSpPr>
            <p:cNvPr id="190" name="Freeform 27"/>
            <p:cNvSpPr/>
            <p:nvPr/>
          </p:nvSpPr>
          <p:spPr>
            <a:xfrm>
              <a:off x="13283640" y="4069440"/>
              <a:ext cx="172080" cy="172080"/>
            </a:xfrm>
            <a:custGeom>
              <a:avLst/>
              <a:gdLst>
                <a:gd name="textAreaLeft" fmla="*/ 0 w 172080"/>
                <a:gd name="textAreaRight" fmla="*/ 172440 w 172080"/>
                <a:gd name="textAreaTop" fmla="*/ 0 h 172080"/>
                <a:gd name="textAreaBottom" fmla="*/ 172440 h 172080"/>
              </a:gdLst>
              <a:ahLst/>
              <a:rect l="textAreaLeft" t="textAreaTop" r="textAreaRight" b="textAreaBottom"/>
              <a:pathLst>
                <a:path w="230124" h="230124">
                  <a:moveTo>
                    <a:pt x="0" y="115062"/>
                  </a:moveTo>
                  <a:cubicBezTo>
                    <a:pt x="0" y="51562"/>
                    <a:pt x="51562" y="0"/>
                    <a:pt x="115062" y="0"/>
                  </a:cubicBezTo>
                  <a:cubicBezTo>
                    <a:pt x="178562" y="0"/>
                    <a:pt x="230124" y="51562"/>
                    <a:pt x="230124" y="115062"/>
                  </a:cubicBezTo>
                  <a:cubicBezTo>
                    <a:pt x="230124" y="178562"/>
                    <a:pt x="178562" y="230124"/>
                    <a:pt x="115062" y="230124"/>
                  </a:cubicBezTo>
                  <a:cubicBezTo>
                    <a:pt x="51562" y="230124"/>
                    <a:pt x="0" y="178689"/>
                    <a:pt x="0" y="115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91" name="TextBox 28"/>
          <p:cNvSpPr/>
          <p:nvPr/>
        </p:nvSpPr>
        <p:spPr>
          <a:xfrm>
            <a:off x="14291280" y="3923640"/>
            <a:ext cx="30135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Login Authentication &amp; User Roles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92" name="Group 29"/>
          <p:cNvGrpSpPr/>
          <p:nvPr/>
        </p:nvGrpSpPr>
        <p:grpSpPr>
          <a:xfrm>
            <a:off x="12937680" y="5287320"/>
            <a:ext cx="460440" cy="28080"/>
            <a:chOff x="12937680" y="5287320"/>
            <a:chExt cx="460440" cy="28080"/>
          </a:xfrm>
        </p:grpSpPr>
        <p:sp>
          <p:nvSpPr>
            <p:cNvPr id="193" name="Freeform 30"/>
            <p:cNvSpPr/>
            <p:nvPr/>
          </p:nvSpPr>
          <p:spPr>
            <a:xfrm>
              <a:off x="12937680" y="5287320"/>
              <a:ext cx="460440" cy="28080"/>
            </a:xfrm>
            <a:custGeom>
              <a:avLst/>
              <a:gdLst>
                <a:gd name="textAreaLeft" fmla="*/ 0 w 460440"/>
                <a:gd name="textAreaRight" fmla="*/ 460800 w 4604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1417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595122" y="0"/>
                  </a:lnTo>
                  <a:cubicBezTo>
                    <a:pt x="605663" y="0"/>
                    <a:pt x="614172" y="8509"/>
                    <a:pt x="614172" y="19050"/>
                  </a:cubicBezTo>
                  <a:cubicBezTo>
                    <a:pt x="614172" y="29591"/>
                    <a:pt x="605663" y="38100"/>
                    <a:pt x="59512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d8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94" name="Group 31"/>
          <p:cNvGrpSpPr/>
          <p:nvPr/>
        </p:nvGrpSpPr>
        <p:grpSpPr>
          <a:xfrm>
            <a:off x="13283640" y="5215320"/>
            <a:ext cx="172080" cy="172080"/>
            <a:chOff x="13283640" y="5215320"/>
            <a:chExt cx="172080" cy="172080"/>
          </a:xfrm>
        </p:grpSpPr>
        <p:sp>
          <p:nvSpPr>
            <p:cNvPr id="195" name="Freeform 32"/>
            <p:cNvSpPr/>
            <p:nvPr/>
          </p:nvSpPr>
          <p:spPr>
            <a:xfrm>
              <a:off x="13283640" y="5215320"/>
              <a:ext cx="172080" cy="172080"/>
            </a:xfrm>
            <a:custGeom>
              <a:avLst/>
              <a:gdLst>
                <a:gd name="textAreaLeft" fmla="*/ 0 w 172080"/>
                <a:gd name="textAreaRight" fmla="*/ 172440 w 172080"/>
                <a:gd name="textAreaTop" fmla="*/ 0 h 172080"/>
                <a:gd name="textAreaBottom" fmla="*/ 172440 h 172080"/>
              </a:gdLst>
              <a:ahLst/>
              <a:rect l="textAreaLeft" t="textAreaTop" r="textAreaRight" b="textAreaBottom"/>
              <a:pathLst>
                <a:path w="230124" h="230124">
                  <a:moveTo>
                    <a:pt x="0" y="115062"/>
                  </a:moveTo>
                  <a:cubicBezTo>
                    <a:pt x="0" y="51562"/>
                    <a:pt x="51562" y="0"/>
                    <a:pt x="115062" y="0"/>
                  </a:cubicBezTo>
                  <a:cubicBezTo>
                    <a:pt x="178562" y="0"/>
                    <a:pt x="230124" y="51562"/>
                    <a:pt x="230124" y="115062"/>
                  </a:cubicBezTo>
                  <a:cubicBezTo>
                    <a:pt x="230124" y="178562"/>
                    <a:pt x="178562" y="230124"/>
                    <a:pt x="115062" y="230124"/>
                  </a:cubicBezTo>
                  <a:cubicBezTo>
                    <a:pt x="51562" y="230124"/>
                    <a:pt x="0" y="178689"/>
                    <a:pt x="0" y="115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196" name="TextBox 33"/>
          <p:cNvSpPr/>
          <p:nvPr/>
        </p:nvSpPr>
        <p:spPr>
          <a:xfrm>
            <a:off x="9434520" y="5069520"/>
            <a:ext cx="30135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GST Calculation &amp; Discounts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197" name="Group 34"/>
          <p:cNvGrpSpPr/>
          <p:nvPr/>
        </p:nvGrpSpPr>
        <p:grpSpPr>
          <a:xfrm>
            <a:off x="13341240" y="6433560"/>
            <a:ext cx="460440" cy="28080"/>
            <a:chOff x="13341240" y="6433560"/>
            <a:chExt cx="460440" cy="28080"/>
          </a:xfrm>
        </p:grpSpPr>
        <p:sp>
          <p:nvSpPr>
            <p:cNvPr id="198" name="Freeform 35"/>
            <p:cNvSpPr/>
            <p:nvPr/>
          </p:nvSpPr>
          <p:spPr>
            <a:xfrm>
              <a:off x="13341240" y="6433560"/>
              <a:ext cx="460440" cy="28080"/>
            </a:xfrm>
            <a:custGeom>
              <a:avLst/>
              <a:gdLst>
                <a:gd name="textAreaLeft" fmla="*/ 0 w 460440"/>
                <a:gd name="textAreaRight" fmla="*/ 460800 w 4604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1417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595122" y="0"/>
                  </a:lnTo>
                  <a:cubicBezTo>
                    <a:pt x="605663" y="0"/>
                    <a:pt x="614172" y="8509"/>
                    <a:pt x="614172" y="19050"/>
                  </a:cubicBezTo>
                  <a:cubicBezTo>
                    <a:pt x="614172" y="29591"/>
                    <a:pt x="605663" y="38100"/>
                    <a:pt x="59512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d8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199" name="Group 36"/>
          <p:cNvGrpSpPr/>
          <p:nvPr/>
        </p:nvGrpSpPr>
        <p:grpSpPr>
          <a:xfrm>
            <a:off x="13283640" y="6361200"/>
            <a:ext cx="172080" cy="172080"/>
            <a:chOff x="13283640" y="6361200"/>
            <a:chExt cx="172080" cy="172080"/>
          </a:xfrm>
        </p:grpSpPr>
        <p:sp>
          <p:nvSpPr>
            <p:cNvPr id="200" name="Freeform 37"/>
            <p:cNvSpPr/>
            <p:nvPr/>
          </p:nvSpPr>
          <p:spPr>
            <a:xfrm>
              <a:off x="13283640" y="6361200"/>
              <a:ext cx="172080" cy="172080"/>
            </a:xfrm>
            <a:custGeom>
              <a:avLst/>
              <a:gdLst>
                <a:gd name="textAreaLeft" fmla="*/ 0 w 172080"/>
                <a:gd name="textAreaRight" fmla="*/ 172440 w 172080"/>
                <a:gd name="textAreaTop" fmla="*/ 0 h 172080"/>
                <a:gd name="textAreaBottom" fmla="*/ 172440 h 172080"/>
              </a:gdLst>
              <a:ahLst/>
              <a:rect l="textAreaLeft" t="textAreaTop" r="textAreaRight" b="textAreaBottom"/>
              <a:pathLst>
                <a:path w="230124" h="230124">
                  <a:moveTo>
                    <a:pt x="0" y="115062"/>
                  </a:moveTo>
                  <a:cubicBezTo>
                    <a:pt x="0" y="51562"/>
                    <a:pt x="51562" y="0"/>
                    <a:pt x="115062" y="0"/>
                  </a:cubicBezTo>
                  <a:cubicBezTo>
                    <a:pt x="178562" y="0"/>
                    <a:pt x="230124" y="51562"/>
                    <a:pt x="230124" y="115062"/>
                  </a:cubicBezTo>
                  <a:cubicBezTo>
                    <a:pt x="230124" y="178562"/>
                    <a:pt x="178562" y="230124"/>
                    <a:pt x="115062" y="230124"/>
                  </a:cubicBezTo>
                  <a:cubicBezTo>
                    <a:pt x="51562" y="230124"/>
                    <a:pt x="0" y="178689"/>
                    <a:pt x="0" y="115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201" name="TextBox 38"/>
          <p:cNvSpPr/>
          <p:nvPr/>
        </p:nvSpPr>
        <p:spPr>
          <a:xfrm>
            <a:off x="14291280" y="6215760"/>
            <a:ext cx="30135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Sales Reports &amp; Invoice Printing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grpSp>
        <p:nvGrpSpPr>
          <p:cNvPr id="202" name="Group 39"/>
          <p:cNvGrpSpPr/>
          <p:nvPr/>
        </p:nvGrpSpPr>
        <p:grpSpPr>
          <a:xfrm>
            <a:off x="12937680" y="7579440"/>
            <a:ext cx="460440" cy="28080"/>
            <a:chOff x="12937680" y="7579440"/>
            <a:chExt cx="460440" cy="28080"/>
          </a:xfrm>
        </p:grpSpPr>
        <p:sp>
          <p:nvSpPr>
            <p:cNvPr id="203" name="Freeform 40"/>
            <p:cNvSpPr/>
            <p:nvPr/>
          </p:nvSpPr>
          <p:spPr>
            <a:xfrm>
              <a:off x="12937680" y="7579440"/>
              <a:ext cx="460440" cy="28080"/>
            </a:xfrm>
            <a:custGeom>
              <a:avLst/>
              <a:gdLst>
                <a:gd name="textAreaLeft" fmla="*/ 0 w 460440"/>
                <a:gd name="textAreaRight" fmla="*/ 460800 w 4604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1417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595122" y="0"/>
                  </a:lnTo>
                  <a:cubicBezTo>
                    <a:pt x="605663" y="0"/>
                    <a:pt x="614172" y="8509"/>
                    <a:pt x="614172" y="19050"/>
                  </a:cubicBezTo>
                  <a:cubicBezTo>
                    <a:pt x="614172" y="29591"/>
                    <a:pt x="605663" y="38100"/>
                    <a:pt x="59512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d8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04" name="Group 41"/>
          <p:cNvGrpSpPr/>
          <p:nvPr/>
        </p:nvGrpSpPr>
        <p:grpSpPr>
          <a:xfrm>
            <a:off x="13283640" y="7507440"/>
            <a:ext cx="172080" cy="172080"/>
            <a:chOff x="13283640" y="7507440"/>
            <a:chExt cx="172080" cy="172080"/>
          </a:xfrm>
        </p:grpSpPr>
        <p:sp>
          <p:nvSpPr>
            <p:cNvPr id="205" name="Freeform 42"/>
            <p:cNvSpPr/>
            <p:nvPr/>
          </p:nvSpPr>
          <p:spPr>
            <a:xfrm>
              <a:off x="13283640" y="7507440"/>
              <a:ext cx="172080" cy="172080"/>
            </a:xfrm>
            <a:custGeom>
              <a:avLst/>
              <a:gdLst>
                <a:gd name="textAreaLeft" fmla="*/ 0 w 172080"/>
                <a:gd name="textAreaRight" fmla="*/ 172440 w 172080"/>
                <a:gd name="textAreaTop" fmla="*/ 0 h 172080"/>
                <a:gd name="textAreaBottom" fmla="*/ 172440 h 172080"/>
              </a:gdLst>
              <a:ahLst/>
              <a:rect l="textAreaLeft" t="textAreaTop" r="textAreaRight" b="textAreaBottom"/>
              <a:pathLst>
                <a:path w="230124" h="230124">
                  <a:moveTo>
                    <a:pt x="0" y="115062"/>
                  </a:moveTo>
                  <a:cubicBezTo>
                    <a:pt x="0" y="51562"/>
                    <a:pt x="51562" y="0"/>
                    <a:pt x="115062" y="0"/>
                  </a:cubicBezTo>
                  <a:cubicBezTo>
                    <a:pt x="178562" y="0"/>
                    <a:pt x="230124" y="51562"/>
                    <a:pt x="230124" y="115062"/>
                  </a:cubicBezTo>
                  <a:cubicBezTo>
                    <a:pt x="230124" y="178562"/>
                    <a:pt x="178562" y="230124"/>
                    <a:pt x="115062" y="230124"/>
                  </a:cubicBezTo>
                  <a:cubicBezTo>
                    <a:pt x="51562" y="230124"/>
                    <a:pt x="0" y="178689"/>
                    <a:pt x="0" y="115062"/>
                  </a:cubicBezTo>
                  <a:close/>
                </a:path>
              </a:pathLst>
            </a:custGeom>
            <a:solidFill>
              <a:srgbClr val="3e251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uFillTx/>
                <a:latin typeface="Noto Sans CJK SC"/>
              </a:endParaRPr>
            </a:p>
          </p:txBody>
        </p:sp>
      </p:grpSp>
      <p:sp>
        <p:nvSpPr>
          <p:cNvPr id="206" name="TextBox 43"/>
          <p:cNvSpPr/>
          <p:nvPr/>
        </p:nvSpPr>
        <p:spPr>
          <a:xfrm>
            <a:off x="9434520" y="7362000"/>
            <a:ext cx="30135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2614"/>
              </a:lnSpc>
            </a:pPr>
            <a:r>
              <a:rPr b="0" lang="en-US" sz="18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GUI, MySQL/SQLite &amp; Cloud Backup</a:t>
            </a:r>
            <a:endParaRPr b="0" lang="en-US" sz="18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208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3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09" name="Group 4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210" name="Freeform 5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11" name="Group 6"/>
          <p:cNvGrpSpPr/>
          <p:nvPr/>
        </p:nvGrpSpPr>
        <p:grpSpPr>
          <a:xfrm>
            <a:off x="16058520" y="9689040"/>
            <a:ext cx="2143440" cy="511560"/>
            <a:chOff x="16058520" y="9689040"/>
            <a:chExt cx="2143440" cy="511560"/>
          </a:xfrm>
        </p:grpSpPr>
        <p:sp>
          <p:nvSpPr>
            <p:cNvPr id="212" name="Freeform 7">
              <a:hlinkClick r:id="rId1"/>
            </p:cNvPr>
            <p:cNvSpPr/>
            <p:nvPr/>
          </p:nvSpPr>
          <p:spPr>
            <a:xfrm>
              <a:off x="16058520" y="9689040"/>
              <a:ext cx="2143440" cy="511560"/>
            </a:xfrm>
            <a:custGeom>
              <a:avLst/>
              <a:gdLst>
                <a:gd name="textAreaLeft" fmla="*/ 0 w 2143440"/>
                <a:gd name="textAreaRight" fmla="*/ 2143800 w 214344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2858262" h="68275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l="-16677" t="-16748" r="-16677" b="-16748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grpSp>
        <p:nvGrpSpPr>
          <p:cNvPr id="213" name="Group 8"/>
          <p:cNvGrpSpPr/>
          <p:nvPr/>
        </p:nvGrpSpPr>
        <p:grpSpPr>
          <a:xfrm>
            <a:off x="11430000" y="0"/>
            <a:ext cx="6857640" cy="10286640"/>
            <a:chOff x="11430000" y="0"/>
            <a:chExt cx="6857640" cy="10286640"/>
          </a:xfrm>
        </p:grpSpPr>
        <p:sp>
          <p:nvSpPr>
            <p:cNvPr id="214" name="Freeform 9"/>
            <p:cNvSpPr/>
            <p:nvPr/>
          </p:nvSpPr>
          <p:spPr>
            <a:xfrm>
              <a:off x="11430000" y="0"/>
              <a:ext cx="6857640" cy="10286640"/>
            </a:xfrm>
            <a:custGeom>
              <a:avLst/>
              <a:gdLst>
                <a:gd name="textAreaLeft" fmla="*/ 0 w 6857640"/>
                <a:gd name="textAreaRight" fmla="*/ 6858000 w 685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>
                <a:fillRect l="-16670" t="-16668" r="-16670" b="-16668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uFillTx/>
                <a:latin typeface="Noto Sans CJK SC"/>
              </a:endParaRPr>
            </a:p>
          </p:txBody>
        </p:sp>
      </p:grpSp>
      <p:sp>
        <p:nvSpPr>
          <p:cNvPr id="215" name="TextBox 10"/>
          <p:cNvSpPr/>
          <p:nvPr/>
        </p:nvSpPr>
        <p:spPr>
          <a:xfrm>
            <a:off x="992160" y="762120"/>
            <a:ext cx="944532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613"/>
              </a:lnSpc>
            </a:pPr>
            <a:r>
              <a:rPr b="0" lang="en-US" sz="53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Conclusion</a:t>
            </a:r>
            <a:endParaRPr b="0" lang="en-US" sz="53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16" name="TextBox 11"/>
          <p:cNvSpPr/>
          <p:nvPr/>
        </p:nvSpPr>
        <p:spPr>
          <a:xfrm>
            <a:off x="992160" y="1983600"/>
            <a:ext cx="9445320" cy="166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77"/>
              </a:lnSpc>
            </a:pPr>
            <a:r>
              <a:rPr b="0" lang="en-US" sz="2100" strike="noStrike" u="none">
                <a:solidFill>
                  <a:srgbClr val="504c49"/>
                </a:solidFill>
                <a:uFillTx/>
                <a:latin typeface="Source Serif Pro"/>
                <a:ea typeface="Source Serif Pro"/>
              </a:rPr>
              <a:t>The POS Billing System demonstrates how C programming can deliver a practical, efficient retail management solution. It improves billing speed, maintains accurate inventory, reduces human error, and lays a strong foundation for building advanced Point of Sale software.</a:t>
            </a:r>
            <a:endParaRPr b="0" lang="en-US" sz="21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217" name="TextBox 12"/>
          <p:cNvSpPr/>
          <p:nvPr/>
        </p:nvSpPr>
        <p:spPr>
          <a:xfrm>
            <a:off x="3024000" y="5972760"/>
            <a:ext cx="4740840" cy="23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9111"/>
              </a:lnSpc>
            </a:pPr>
            <a:r>
              <a:rPr b="0" lang="en-US" sz="7300" strike="noStrike" u="none">
                <a:solidFill>
                  <a:srgbClr val="201b18"/>
                </a:solidFill>
                <a:uFillTx/>
                <a:latin typeface="arial"/>
                <a:ea typeface="arial"/>
              </a:rPr>
              <a:t>Thank You!</a:t>
            </a:r>
            <a:endParaRPr b="0" lang="en-US" sz="7300" strike="noStrike" u="non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LibreOfficeDev/24.8.7.2.0$Android_AARCH64 LibreOffice_project/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DAHOsX92n1o</dc:identifier>
  <dc:language>zh-CN</dc:language>
  <cp:lastModifiedBy/>
  <dcterms:modified xsi:type="dcterms:W3CDTF">2026-07-08T13:23:55Z</dcterms:modified>
  <cp:revision>2</cp:revision>
  <dc:subject/>
  <dc:title>POS-Billing-System.pptx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